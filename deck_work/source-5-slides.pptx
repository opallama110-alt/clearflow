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15ca16ba224135" /><Relationship Type="http://schemas.openxmlformats.org/officeDocument/2006/relationships/extended-properties" Target="/docProps/app.xml" Id="Rb9ea8d8b73814d32" /><Relationship Type="http://schemas.openxmlformats.org/officeDocument/2006/relationships/officeDocument" Target="/ppt/presentation.xml" Id="R341154823f4a4d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e947515fb24811"/>
  </p:sldMasterIdLst>
  <p:notesMasterIdLst>
    <p:notesMasterId xmlns:r="http://schemas.openxmlformats.org/officeDocument/2006/relationships" r:id="R6a66eae1608a45c2"/>
  </p:notesMasterIdLst>
  <p:sldIdLst>
    <p:sldId xmlns:r="http://schemas.openxmlformats.org/officeDocument/2006/relationships" id="256" r:id="R8063cfc2d68544b3"/>
    <p:sldId xmlns:r="http://schemas.openxmlformats.org/officeDocument/2006/relationships" id="257" r:id="R3972622f5baf4f97"/>
    <p:sldId xmlns:r="http://schemas.openxmlformats.org/officeDocument/2006/relationships" id="258" r:id="R16ccc13a118e4ce0"/>
    <p:sldId xmlns:r="http://schemas.openxmlformats.org/officeDocument/2006/relationships" id="259" r:id="R62182c9409f74347"/>
    <p:sldId xmlns:r="http://schemas.openxmlformats.org/officeDocument/2006/relationships" id="260" r:id="Rc62200dc760944a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6dabc762d740aa" /><Relationship Type="http://schemas.openxmlformats.org/officeDocument/2006/relationships/slideMaster" Target="/ppt/slideMasters/slideMaster1.xml" Id="R02e947515fb24811" /><Relationship Type="http://schemas.openxmlformats.org/officeDocument/2006/relationships/notesMaster" Target="/ppt/notesMasters/notesMaster1.xml" Id="R6a66eae1608a45c2" /><Relationship Type="http://schemas.openxmlformats.org/officeDocument/2006/relationships/presProps" Target="/ppt/presProps.xml" Id="R2163c08f113f4087" /><Relationship Type="http://schemas.openxmlformats.org/officeDocument/2006/relationships/tableStyles" Target="/ppt/tableStyles.xml" Id="R92b2afb3e74043f3" /><Relationship Type="http://schemas.openxmlformats.org/officeDocument/2006/relationships/slide" Target="/ppt/slides/slide1.xml" Id="R8063cfc2d68544b3" /><Relationship Type="http://schemas.openxmlformats.org/officeDocument/2006/relationships/slide" Target="/ppt/slides/slide2.xml" Id="R3972622f5baf4f97" /><Relationship Type="http://schemas.openxmlformats.org/officeDocument/2006/relationships/slide" Target="/ppt/slides/slide3.xml" Id="R16ccc13a118e4ce0" /><Relationship Type="http://schemas.openxmlformats.org/officeDocument/2006/relationships/slide" Target="/ppt/slides/slide4.xml" Id="R62182c9409f74347" /><Relationship Type="http://schemas.openxmlformats.org/officeDocument/2006/relationships/slide" Target="/ppt/slides/slide5.xml" Id="Rc62200dc760944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2314fb7fe24f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b72a62951543ac" /><Relationship Type="http://schemas.openxmlformats.org/officeDocument/2006/relationships/notesMaster" Target="/ppt/notesMasters/notesMaster1.xml" Id="R91086b7ee3ae46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912931674f4ce7" /><Relationship Type="http://schemas.openxmlformats.org/officeDocument/2006/relationships/notesMaster" Target="/ppt/notesMasters/notesMaster1.xml" Id="Rbd96d7b5844744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b20dc999ba4e0a" /><Relationship Type="http://schemas.openxmlformats.org/officeDocument/2006/relationships/notesMaster" Target="/ppt/notesMasters/notesMaster1.xml" Id="R0ec11ead06844f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21e1b341ca414f" /><Relationship Type="http://schemas.openxmlformats.org/officeDocument/2006/relationships/notesMaster" Target="/ppt/notesMasters/notesMaster1.xml" Id="R9fa7ff9d057444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c4248b374643e9" /><Relationship Type="http://schemas.openxmlformats.org/officeDocument/2006/relationships/notesMaster" Target="/ppt/notesMasters/notesMaster1.xml" Id="Rba1dc1049a3d40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Konten inti: diberikan oleh pengguna pada 4 Agustus 2026.</a:t>
            </a:r>
          </a:p>
          <a:p xmlns:a="http://schemas.openxmlformats.org/drawingml/2006/main">
            <a:r>
              <a:t>- Tekstur Mega Mendung: aset orisinal yang dibuat untuk deck ini.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Konten inti: diberikan oleh pengguna pada 4 Agustus 2026.</a:t>
            </a:r>
          </a:p>
          <a:p xmlns:a="http://schemas.openxmlformats.org/drawingml/2006/main">
            <a:r>
              <a:t>- Tekstur Mega Mendung: aset orisinal yang dibuat untuk deck ini.</a:t>
            </a:r>
          </a:p>
          <a:p xmlns:a="http://schemas.openxmlformats.org/drawingml/2006/main">
            <a:r>
              <a:t>- Label assessment Bank Indonesia Cirebon: ditampilkan sesuai teks pengguna; tidak ada angka statistik tambahan.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Konten inti: diberikan oleh pengguna pada 4 Agustus 2026.</a:t>
            </a:r>
          </a:p>
          <a:p xmlns:a="http://schemas.openxmlformats.org/drawingml/2006/main">
            <a:r>
              <a:t>- Tekstur Mega Mendung: aset orisinal yang dibuat untuk deck ini.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Konten inti: diberikan oleh pengguna pada 4 Agustus 2026.</a:t>
            </a:r>
          </a:p>
          <a:p xmlns:a="http://schemas.openxmlformats.org/drawingml/2006/main">
            <a:r>
              <a:t>- Tekstur Mega Mendung: aset orisinal yang dibuat untuk deck ini.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Konten inti: diberikan oleh pengguna pada 4 Agustus 2026.</a:t>
            </a:r>
          </a:p>
          <a:p xmlns:a="http://schemas.openxmlformats.org/drawingml/2006/main">
            <a:r>
              <a:t>- Tekstur Mega Mendung: aset orisinal yang dibuat untuk deck ini.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db02dcb76348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3935cdb0274460" /><Relationship Type="http://schemas.openxmlformats.org/officeDocument/2006/relationships/slideLayout" Target="/ppt/slideLayouts/slideLayout1.xml" Id="Rdd62b843484047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62b843484047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bd9af6f4cf4e3e" /><Relationship Type="http://schemas.openxmlformats.org/officeDocument/2006/relationships/image" Target="/ppt/media/image.png" Id="Ra6dedfcf97bf42d5" /><Relationship Type="http://schemas.openxmlformats.org/officeDocument/2006/relationships/notesSlide" Target="/ppt/notesSlides/notesSlide1.xml" Id="R8e7c8dcae9e54d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7e45a4b5b04005" /><Relationship Type="http://schemas.openxmlformats.org/officeDocument/2006/relationships/image" Target="/ppt/media/image2.png" Id="Rdc8e83cb227a4024" /><Relationship Type="http://schemas.openxmlformats.org/officeDocument/2006/relationships/notesSlide" Target="/ppt/notesSlides/notesSlide2.xml" Id="R076fe37329c547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86294d8494e52" /><Relationship Type="http://schemas.openxmlformats.org/officeDocument/2006/relationships/image" Target="/ppt/media/image3.png" Id="R49bb407a91ec466d" /><Relationship Type="http://schemas.openxmlformats.org/officeDocument/2006/relationships/notesSlide" Target="/ppt/notesSlides/notesSlide3.xml" Id="R8bbb00d8f61845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c44709804473f" /><Relationship Type="http://schemas.openxmlformats.org/officeDocument/2006/relationships/image" Target="/ppt/media/image4.png" Id="R1a1183ac86f24a58" /><Relationship Type="http://schemas.openxmlformats.org/officeDocument/2006/relationships/notesSlide" Target="/ppt/notesSlides/notesSlide4.xml" Id="R5e59c7c399214fc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84d266a80d4751" /><Relationship Type="http://schemas.openxmlformats.org/officeDocument/2006/relationships/image" Target="/ppt/media/image5.png" Id="R2acde1fe8ace4a9f" /><Relationship Type="http://schemas.openxmlformats.org/officeDocument/2006/relationships/notesSlide" Target="/ppt/notesSlides/notesSlide5.xml" Id="R2a6b335253eb4d2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dedfcf97bf42d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0E447-AC48-45E9-829F-D8AD3E20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A0029A-34D8-4F1E-A91B-9F03866C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 i="0">
                <a:solidFill>
                  <a:srgbClr val="71889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71889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DB671F85-F104-488F-83BC-8E9ED976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AI SOLUTIONS FOR SMES · UMKM CIREBON</a:t>
            </a:r>
          </a:p>
        </p:txBody>
      </p:sp>
      <p:sp>
        <p:nvSpPr>
          <p:cNvPr id="5" name="deck-title">
            <a:extLst xmlns:a="http://schemas.openxmlformats.org/drawingml/2006/main">
              <a:ext uri="{FF2B5EF4-FFF2-40B4-BE49-F238E27FC236}">
                <a16:creationId xmlns:a16="http://schemas.microsoft.com/office/drawing/2014/main" id="{F29F8006-249E-4956-A58C-98DE377A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581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55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55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ClearFlow.AI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D25812-3BA1-4F96-BA92-9BE2D9B8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533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Pembukuan yang mengalir,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keputusan yang lebih jernih.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49C3B1-3973-409B-B65E-8E444E57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495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 i="0">
                <a:solidFill>
                  <a:srgbClr val="46606E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46606E"/>
                </a:solidFill>
                <a:latin typeface="Aptos"/>
                <a:ea typeface="Aptos"/>
                <a:cs typeface="Aptos"/>
              </a:rPr>
              <a:t>Asisten pembukuan cerdas untuk membantu UMKM memisahkan uang usaha dan uang pribadi.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EDDFCE-3CA0-4669-9CBF-8EB8A3AD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6720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8D8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36EBAC-3152-45D1-8393-03D598DB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24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Fatimah Azzahra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5B9117-5417-40FC-BA17-186DF903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291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718895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718895"/>
                </a:solidFill>
                <a:latin typeface="Aptos"/>
                <a:ea typeface="Aptos"/>
                <a:cs typeface="Aptos"/>
              </a:rPr>
              <a:t>UIN Cyber Cirebon  ·  16 Juli 2006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734227-3037-494A-B9AD-D31C75FB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6858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71889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718895"/>
                </a:solidFill>
                <a:latin typeface="Aptos"/>
                <a:ea typeface="Aptos"/>
                <a:cs typeface="Aptos"/>
              </a:rPr>
              <a:t>CERITA TRANSAKSI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AE0F73-CAA7-46AE-9829-77275C7B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52575"/>
            <a:ext cx="1333500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5B8B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151B85-4F27-4519-8E7E-FAB4A405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14600"/>
            <a:ext cx="1333500" cy="-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5B8B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7FFED4-4A31-4316-B8C7-1F3D43A4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76625"/>
            <a:ext cx="1333500" cy="-1095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5B8B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8BEC47-79AB-4B47-9073-6A2BF6A5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81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38A8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5E7ED2-5E3D-4D3C-A70B-DBFE60C5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144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38A8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32C65F-CDB0-4B60-AC06-05ECAF6F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1445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8F0A0A-D046-405D-8A92-D26C8164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76475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19050">
            <a:solidFill>
              <a:srgbClr val="238A8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66DAC2-9223-4E57-B4EB-A5EC6635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76475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Rp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4B3DD8-B115-4037-A6F1-CCF8A2D4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38A8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123478-62F5-41E0-B179-9A39E90B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D384ED-EFA3-4B07-8A95-0EE4E0D6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717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8A84"/>
          </a:solidFill>
          <a:ln xmlns:a="http://schemas.openxmlformats.org/drawingml/2006/main" w="0">
            <a:solidFill>
              <a:srgbClr val="238A8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3AB544-39B9-49F0-92A2-0A576688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717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FF2991-326E-4946-95C1-FA98C6B5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238250"/>
            <a:ext cx="3048000" cy="314325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BCD0C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F6B00A-F6AD-4C50-8FC5-48D9F37A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238250"/>
            <a:ext cx="304800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B0DF35-4DC3-4697-B101-5D66C9FF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352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B8B1"/>
          </a:solidFill>
          <a:ln xmlns:a="http://schemas.openxmlformats.org/drawingml/2006/main" w="0">
            <a:solidFill>
              <a:srgbClr val="65B8B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2FC462-FE60-4FEC-A2C1-6A48B417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352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415AE6-269A-4B49-95A5-7627A887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32397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CLEARFLOW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95A0EC-3F45-4A6F-9D17-BF465138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7907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46606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46606E"/>
                </a:solidFill>
                <a:latin typeface="Aptos"/>
                <a:ea typeface="Aptos"/>
                <a:cs typeface="Aptos"/>
              </a:rPr>
              <a:t>Kas Usaha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63A9B0-329C-42FB-B304-6934A5EE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00250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Rp250.000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3BBF7F-A922-434D-8DFE-DACA2A76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7907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46606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46606E"/>
                </a:solidFill>
                <a:latin typeface="Aptos"/>
                <a:ea typeface="Aptos"/>
                <a:cs typeface="Aptos"/>
              </a:rPr>
              <a:t>Kas Pribadi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9FCDC5-C339-4714-AD65-3EAA9A3A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002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−Rp15.000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0C7380-81E2-4806-BCA7-6A28091A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384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8D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6781CE-A4B0-4F1C-8F0B-0728A32A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14750"/>
            <a:ext cx="171450" cy="4381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B9DA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927176-E555-40F9-82D1-8CA0C43A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48050"/>
            <a:ext cx="171450" cy="7048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B9DA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C39C99-C263-4312-B282-746381F6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71900"/>
            <a:ext cx="171450" cy="3810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B9DA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21A8A0-AC10-4581-8AC3-C55F27D5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276600"/>
            <a:ext cx="171450" cy="8763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B9DA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CAD439-8FF1-4291-B328-8E75548B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600450"/>
            <a:ext cx="171450" cy="552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B9DA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50B3E53-1CCB-4221-A484-E5AEFD39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143250"/>
            <a:ext cx="171450" cy="10096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238A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ED3533B-2930-4BB7-B9F7-E1D33265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196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Beberapa transaksi  →  satu gambaran kas yang jernih</a:t>
            </a:r>
          </a:p>
        </p:txBody>
      </p:sp>
    </p:spTree>
    <p:extLst>
      <p:ext uri="{BB962C8B-B14F-4D97-AF65-F5344CB8AC3E}">
        <p14:creationId xmlns:p14="http://schemas.microsoft.com/office/powerpoint/2010/main" val="84726766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8e83cb227a402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36C8A3-16F8-474C-AEE3-971CDED7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2967FB-4828-45F3-8FC4-5FC8A1F6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 i="0">
                <a:solidFill>
                  <a:srgbClr val="71889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71889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DBC97D7-E318-41AC-96A1-9F4DF596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1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4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Ketika Uang Usaha dan Pribadi Berbaur,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4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Keputusan Jadi Kabur.</a:t>
            </a:r>
          </a:p>
        </p:txBody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0C0A77A0-F1D9-43BC-8263-43FC0EE9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71889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718895"/>
                </a:solidFill>
                <a:latin typeface="Aptos"/>
                <a:ea typeface="Aptos"/>
                <a:cs typeface="Aptos"/>
              </a:rPr>
              <a:t>TOP 5 MASALAH UMKM CIREBON — HASIL ASSESSMENT BANK INDONESIA CIREBON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475AE1-EC02-4E05-ACA4-B8F1E89D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4325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5B8B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D697D1-8150-4285-A421-AFA8455A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9146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44CC3B-EDF2-4E58-9F88-5DC5B404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4325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5B8B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42E69E-5D53-4549-9760-A6C25EC5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9146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6BDBD9-210C-4971-8B87-6A4923E7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3067050" cy="2800350"/>
          </a:xfrm>
          <a:prstGeom xmlns:a="http://schemas.openxmlformats.org/drawingml/2006/main" prst="roundRect">
            <a:avLst>
              <a:gd name="adj" fmla="val 680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8D8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BE2CF9-917B-49E1-9118-5D14FED5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14288">
            <a:solidFill>
              <a:srgbClr val="238A8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9C0F25-398D-4109-BB19-2154E5B8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2547DE-7B93-4AAE-8FD4-84342B8A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1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Pencatatan belum rapi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3C563F-2343-4C3F-AF22-EC32C5D8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38A8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D85A3A-A1A3-4DAC-BEB4-FB4C6B08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259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7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46606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46606E"/>
                </a:solidFill>
                <a:latin typeface="Aptos"/>
                <a:ea typeface="Aptos"/>
                <a:cs typeface="Aptos"/>
              </a:rPr>
              <a:t>Transaksi harian masih mengandalkan ingatan, catatan acak, atau chat pribadi.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7306F5-766B-4592-80A0-F27D7CBF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43100"/>
            <a:ext cx="3067050" cy="2800350"/>
          </a:xfrm>
          <a:prstGeom xmlns:a="http://schemas.openxmlformats.org/drawingml/2006/main" prst="roundRect">
            <a:avLst>
              <a:gd name="adj" fmla="val 6803"/>
            </a:avLst>
          </a:prstGeom>
          <a:solidFill xmlns:a="http://schemas.openxmlformats.org/drawingml/2006/main">
            <a:srgbClr val="F2F8F6"/>
          </a:solidFill>
          <a:ln xmlns:a="http://schemas.openxmlformats.org/drawingml/2006/main" w="19050">
            <a:solidFill>
              <a:srgbClr val="65B8B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ECAF2E-FEEB-447C-B904-CA804033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717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14288">
            <a:solidFill>
              <a:srgbClr val="238A8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C72E43-2FAB-4048-8C44-755AA665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717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234ACE-9A1B-4BA1-803F-8703AFE9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43200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1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Kas pribadi dan usaha tercampur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84C0FE-B5D0-45AF-B336-796EA522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385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38A8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76E595-EC23-44C4-BD2A-E7340AA4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48100"/>
            <a:ext cx="259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7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46606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46606E"/>
                </a:solidFill>
                <a:latin typeface="Aptos"/>
                <a:ea typeface="Aptos"/>
                <a:cs typeface="Aptos"/>
              </a:rPr>
              <a:t>Pengeluaran rumah tangga dan operasional usaha sulit dibedakan.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16B883-951D-406B-9984-0C079E7E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43100"/>
            <a:ext cx="3067050" cy="2800350"/>
          </a:xfrm>
          <a:prstGeom xmlns:a="http://schemas.openxmlformats.org/drawingml/2006/main" prst="roundRect">
            <a:avLst>
              <a:gd name="adj" fmla="val 680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8D8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1727E9-A67C-49CD-8A3E-2CBFC4A8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717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14288">
            <a:solidFill>
              <a:srgbClr val="238A8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61276F-0CCD-4505-8745-A5292239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717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99D78D-F9B4-4E99-B8CC-B4964818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43200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1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Laba/rugi tidak terlihat jelas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999BE3-973A-43A5-A077-498416D2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385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38A8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24F309-B004-4690-98CF-E4717BDF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48100"/>
            <a:ext cx="259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7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46606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46606E"/>
                </a:solidFill>
                <a:latin typeface="Aptos"/>
                <a:ea typeface="Aptos"/>
                <a:cs typeface="Aptos"/>
              </a:rPr>
              <a:t>Usaha terasa ramai, tetapi pemilik belum mengetahui kondisi keuangan sebenarnya.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CAE599-CB51-42F8-8F8B-6352F8AA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48250"/>
            <a:ext cx="10420350" cy="110490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9E2FDB-C730-4358-83C8-BA8B3924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768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8FD0C9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8FD0C9"/>
                </a:solidFill>
                <a:latin typeface="Aptos"/>
                <a:ea typeface="Aptos"/>
                <a:cs typeface="Aptos"/>
              </a:rPr>
              <a:t>AKIBATNYA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154DD8-DAA2-47EF-AADF-66CDDF99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210175"/>
            <a:ext cx="8420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Pelaku UMKM sulit menjaga modal kerja, mengevaluasi pengeluaran, dan menentukan langkah pengembangan usaha.</a:t>
            </a:r>
          </a:p>
        </p:txBody>
      </p:sp>
    </p:spTree>
    <p:extLst>
      <p:ext uri="{BB962C8B-B14F-4D97-AF65-F5344CB8AC3E}">
        <p14:creationId xmlns:p14="http://schemas.microsoft.com/office/powerpoint/2010/main" val="94160979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bb407a91ec466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0D2EB-DBFA-4D5C-B9D2-D1B7219D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B77A8B-67B2-4F43-AD78-6FF53A03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 i="0">
                <a:solidFill>
                  <a:srgbClr val="71889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71889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845C2C-045A-4EE1-9205-98F9B95D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1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4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ClearFlow.AI Mengubah Cerita Transaksi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4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Menjadi Kejelasan Finansial.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E1BF7D-9E66-403D-8025-8CFAAEC7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162300"/>
            <a:ext cx="887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9CC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E39DDB-0777-4881-819C-6FA5F60E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33700"/>
            <a:ext cx="323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5800EC-B756-41E6-BA4C-F4B1C4AC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33700"/>
            <a:ext cx="323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895159-05AF-45D1-8D91-FB075043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33700"/>
            <a:ext cx="323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3508A4-2F3F-4799-857D-CD2B16EF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2571750" cy="32004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8D8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4253B5-4E07-478E-842A-1DCA5066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2571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8A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BE1BE9-6FCE-461A-B57B-EC505C88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A4FCAF-908C-472D-B2C2-DBA027E4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47925"/>
            <a:ext cx="21526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B7D8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6E0AB3-FFB5-43C1-9957-332860D1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0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“Jualan 300rb…”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B42714-2386-4382-8CCF-A336C972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0400"/>
            <a:ext cx="215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9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Ceritakan transaksi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C32E5E-EEBE-471D-91CC-05D41130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2152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388" b="0" i="0">
                <a:solidFill>
                  <a:srgbClr val="46606E"/>
                </a:solidFill>
                <a:latin typeface="Aptos"/>
                <a:ea typeface="Aptos"/>
                <a:cs typeface="Aptos"/>
              </a:defRPr>
            </a:pPr>
            <a:r>
              <a:rPr sz="1388" b="0" i="0">
                <a:solidFill>
                  <a:srgbClr val="46606E"/>
                </a:solidFill>
                <a:latin typeface="Aptos"/>
                <a:ea typeface="Aptos"/>
                <a:cs typeface="Aptos"/>
              </a:rPr>
              <a:t>Pengguna cukup mengetik seperti sedang mengirim pesan.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799791-950E-49F0-ADBA-BEDA4F4E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809750"/>
            <a:ext cx="2571750" cy="32004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8D8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343666-25A7-4C1B-972E-3451C7CC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809750"/>
            <a:ext cx="2571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3E5FDF-FEF4-41AE-88C6-CCCBE22B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076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183B56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83B5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7C76B7-2C7C-448B-99CB-11FD0EC9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76500"/>
            <a:ext cx="6477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24C307-95FA-47A5-B70F-5E293B70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76500"/>
            <a:ext cx="64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Tanggal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DB2A2D-C071-410C-B539-43394D73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476500"/>
            <a:ext cx="6477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53642A-5F55-4F15-A6D0-5A9852D4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476500"/>
            <a:ext cx="64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Nominal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B86B30-28B3-4EB8-986B-E70E2131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76500"/>
            <a:ext cx="6477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123ED7-F8BD-4488-A735-D8896029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76500"/>
            <a:ext cx="64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Kategori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32D8EB-C1EE-4DF0-8142-F3C1D54C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00400"/>
            <a:ext cx="215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9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AI mengekstrak informasi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0920B7-B67C-4479-9CC0-26DA81C0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43350"/>
            <a:ext cx="2152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388" b="0" i="0">
                <a:solidFill>
                  <a:srgbClr val="46606E"/>
                </a:solidFill>
                <a:latin typeface="Aptos"/>
                <a:ea typeface="Aptos"/>
                <a:cs typeface="Aptos"/>
              </a:defRPr>
            </a:pPr>
            <a:r>
              <a:rPr sz="1388" b="0" i="0">
                <a:solidFill>
                  <a:srgbClr val="46606E"/>
                </a:solidFill>
                <a:latin typeface="Aptos"/>
                <a:ea typeface="Aptos"/>
                <a:cs typeface="Aptos"/>
              </a:rPr>
              <a:t>Tanggal, nominal, keterangan, arus kas, dan kategori terbaca otomatis.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8ACE9A-AD2B-4BB8-A6A6-BBC6F26C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09750"/>
            <a:ext cx="2571750" cy="32004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8D8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0C93C2-ECCF-4461-B707-D477D9D2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09750"/>
            <a:ext cx="2571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9A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B0CDD1-D803-4823-9A9F-46CF8DD7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76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D99A4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D99A4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FF131D-62B2-45C3-8917-98707AD3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288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6E7"/>
          </a:solidFill>
          <a:ln xmlns:a="http://schemas.openxmlformats.org/drawingml/2006/main" w="19050">
            <a:solidFill>
              <a:srgbClr val="D99A4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97E974-947C-4364-BCE8-982153E6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288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 i="0">
                <a:solidFill>
                  <a:srgbClr val="D99A4E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D99A4E"/>
                </a:solidFill>
                <a:latin typeface="Aptos"/>
                <a:ea typeface="Aptos"/>
                <a:cs typeface="Aptos"/>
              </a:rPr>
              <a:t>?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2D9FCD-CC53-45D2-A9D3-F5CB2EFF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527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46606E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46606E"/>
                </a:solidFill>
                <a:latin typeface="Aptos"/>
                <a:ea typeface="Aptos"/>
                <a:cs typeface="Aptos"/>
              </a:rPr>
              <a:t>Konfirmasi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C1D172-25EA-4674-B746-6081817C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215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9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Pengguna meninjau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0EAE0C-1D1E-49B2-BC10-073D5EA1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43350"/>
            <a:ext cx="2152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388" b="0" i="0">
                <a:solidFill>
                  <a:srgbClr val="46606E"/>
                </a:solidFill>
                <a:latin typeface="Aptos"/>
                <a:ea typeface="Aptos"/>
                <a:cs typeface="Aptos"/>
              </a:defRPr>
            </a:pPr>
            <a:r>
              <a:rPr sz="1388" b="0" i="0">
                <a:solidFill>
                  <a:srgbClr val="46606E"/>
                </a:solidFill>
                <a:latin typeface="Aptos"/>
                <a:ea typeface="Aptos"/>
                <a:cs typeface="Aptos"/>
              </a:rPr>
              <a:t>Transaksi ambigu ditandai agar pengguna dapat mengonfirmasi atau mengoreksi.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9641B4-73F3-4BED-9B04-D2739633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09750"/>
            <a:ext cx="2571750" cy="32004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65B8B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64495F-6406-48B3-AA24-C3456277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09750"/>
            <a:ext cx="2571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8A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E17A71-223A-494C-A142-FA91C5C9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76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AD7105-7C00-4E8E-8F0C-3A5B76F3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28875"/>
            <a:ext cx="9906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6A31D9E-6EBA-440C-91C3-2BA1B503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428875"/>
            <a:ext cx="9906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329AFB-8463-4ACC-937E-4FD82611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050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USAHA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93A2CE-2F53-4638-B3E5-1D8DFCF4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860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+250rb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783AA55-E26E-4678-926E-5067B7D4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5050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71889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718895"/>
                </a:solidFill>
                <a:latin typeface="Aptos"/>
                <a:ea typeface="Aptos"/>
                <a:cs typeface="Aptos"/>
              </a:rPr>
              <a:t>PRIBADI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2DF7230-2F83-4873-A24D-09B9B2B8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6860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−15rb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A720B4E-2635-4512-BA0E-B1301408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00400"/>
            <a:ext cx="215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9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Kas menjadi jelas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5EDB02D-A5E6-4F48-8B9F-9B5986DB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43350"/>
            <a:ext cx="2152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388" b="0" i="0">
                <a:solidFill>
                  <a:srgbClr val="46606E"/>
                </a:solidFill>
                <a:latin typeface="Aptos"/>
                <a:ea typeface="Aptos"/>
                <a:cs typeface="Aptos"/>
              </a:defRPr>
            </a:pPr>
            <a:r>
              <a:rPr sz="1388" b="0" i="0">
                <a:solidFill>
                  <a:srgbClr val="46606E"/>
                </a:solidFill>
                <a:latin typeface="Aptos"/>
                <a:ea typeface="Aptos"/>
                <a:cs typeface="Aptos"/>
              </a:rPr>
              <a:t>Sistem memisahkan Kas Usaha dan Kas Pribadi lalu menampilkan ringkasan sederhana.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BDE24C6-0906-4C16-9BC3-2284EDCA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14950"/>
            <a:ext cx="1120140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9D3B74F-F78F-42AF-A6CE-A97B57C2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8A84"/>
          </a:solidFill>
          <a:ln xmlns:a="http://schemas.openxmlformats.org/drawingml/2006/main" w="0">
            <a:solidFill>
              <a:srgbClr val="238A8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19E6507-9002-4F66-9F29-E6F7A929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7D9D232-61BD-4033-B05B-422DD4CC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486400"/>
            <a:ext cx="9886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72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AI membantu merapikan data, tetapi pengguna tetap memegang kendali atas catatan keuangannya.</a:t>
            </a:r>
          </a:p>
        </p:txBody>
      </p:sp>
    </p:spTree>
    <p:extLst>
      <p:ext uri="{BB962C8B-B14F-4D97-AF65-F5344CB8AC3E}">
        <p14:creationId xmlns:p14="http://schemas.microsoft.com/office/powerpoint/2010/main" val="107348977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1183ac86f24a5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05DEC5-63D6-435C-924D-7FCDC29E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032DB-0A36-4E93-8E8E-E2D9FAEA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 i="0">
                <a:solidFill>
                  <a:srgbClr val="71889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71889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EE8969D-535B-4FC7-B57F-1C1781DF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4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Dari Kalimat Sehari-hari ke Catatan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4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yang Bisa Ditindaklanjuti.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760755-DD34-44A9-8305-21183F46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1163300" cy="45148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BFD2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2BABFF-7C4A-4838-81E4-EFF94258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1163300" cy="400050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505D9C-0FA6-4134-BA36-294AA8CA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B8B1"/>
          </a:solidFill>
          <a:ln xmlns:a="http://schemas.openxmlformats.org/drawingml/2006/main" w="0">
            <a:solidFill>
              <a:srgbClr val="65B8B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2E5B8A-8DF2-43A6-9E14-CBE60F5B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C54EDF-8761-4BF8-A509-11C99D60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478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ClearFlow.AI · Prototype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630E0C-68BD-4DE0-B5EE-629F4688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14550"/>
            <a:ext cx="0" cy="3657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8D8D7"/>
            </a:solidFill>
            <a:prstDash val="solid"/>
          </a:ln>
        </p:spPr>
      </p:sp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36E2A18B-58B0-4BCD-BBCD-79BB5212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PANEL KIRI — INPUT PENGGUNA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BFA698-7D63-4403-9378-C674952E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448050" cy="1790700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ADD4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0B367F-A189-42F5-8602-23DFF742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71775"/>
            <a:ext cx="30289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650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“Hari ini jualan 300rb, beli plastik kemasan 50rb pakai uang laci toko, lalu jajan 15rb pakai uang sendiri.”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35DB94-04E6-4E4E-B38F-319513C9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21526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14288">
            <a:solidFill>
              <a:srgbClr val="65B8B1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CB45AC-459A-40BB-8053-59BD16E5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95825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[Masukkan screenshot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prototype]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59A76C-A3BD-473B-B21F-90E29BFB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514850"/>
            <a:ext cx="11811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14288">
            <a:solidFill>
              <a:srgbClr val="65B8B1"/>
            </a:solidFill>
            <a:prstDash val="dash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4920FF-BF8C-4FD5-A3DA-C9697E92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638675"/>
            <a:ext cx="95250" cy="95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77BEC6-4004-420F-A5EB-FB15C3D9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638675"/>
            <a:ext cx="95250" cy="95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5816E8-43CA-4C98-9A6B-992907D2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38675"/>
            <a:ext cx="95250" cy="95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DEDDE5-DF34-4AC1-AB81-B96B1E2E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772025"/>
            <a:ext cx="95250" cy="95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040C90-13D5-4F63-A61A-E70CF931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72025"/>
            <a:ext cx="95250" cy="95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B0F2DB-F75E-400E-BBEA-6CBFDA72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72025"/>
            <a:ext cx="95250" cy="95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5F2B30-BCAD-4F6B-AAAA-5768CE11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905375"/>
            <a:ext cx="95250" cy="95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805755-96AF-41FD-A82B-7E67874A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905375"/>
            <a:ext cx="95250" cy="95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EAD6A4-B8A5-437C-92F7-D37F7A92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05375"/>
            <a:ext cx="95250" cy="95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938BE8-4486-4A2F-A04C-03859715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2920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44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[Masukkan QR Code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938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atau link demo]</a:t>
            </a:r>
          </a:p>
        </p:txBody>
      </p:sp>
      <p:sp>
        <p:nvSpPr>
          <p:cNvPr id="27" name="eyebrow">
            <a:extLst xmlns:a="http://schemas.openxmlformats.org/drawingml/2006/main">
              <a:ext uri="{FF2B5EF4-FFF2-40B4-BE49-F238E27FC236}">
                <a16:creationId xmlns:a16="http://schemas.microsoft.com/office/drawing/2014/main" id="{912CC81E-84E0-4634-8A60-FA62356E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71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PANEL KANAN — HASIL CLEARFLOW.AI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0821E0-36E1-4A7D-BE6E-5552FFAD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52700"/>
            <a:ext cx="87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6668">
            <a:solidFill>
              <a:srgbClr val="FFFDF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0AC8D1-F0C1-4E01-B153-95B2C0D6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71750"/>
            <a:ext cx="80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Tanggal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17F63B-FDF0-426C-9BEF-0B9E0E34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52700"/>
            <a:ext cx="175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6668">
            <a:solidFill>
              <a:srgbClr val="FFFDF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C401BF-D0C7-4E04-A716-16E7B48B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71750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Keterangan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75BF4D-0B50-4E11-B967-4829E4E3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5270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6668">
            <a:solidFill>
              <a:srgbClr val="FFFDF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9F495A-23B1-43D6-8F0C-106B3764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71750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Nominal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4BB2B4-BFF6-4BC8-88DF-897618CF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52700"/>
            <a:ext cx="1295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6668">
            <a:solidFill>
              <a:srgbClr val="FFFDF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1DB40F-60D4-42C5-8620-D8A7CC47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Sumber Dana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4D4B15-E8EA-4D09-BF9E-D7E8AAEF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5527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6668">
            <a:solidFill>
              <a:srgbClr val="FFFDF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02A3EA-8F93-401A-A3D2-4F966D65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571750"/>
            <a:ext cx="116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Arus Kas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D3BC65F-A023-44D9-AA0B-2468C876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52750"/>
            <a:ext cx="876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7620">
            <a:solidFill>
              <a:srgbClr val="C8D8D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8676567-BE46-4163-8DBB-4F0EDC77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990850"/>
            <a:ext cx="78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 i="0">
                <a:solidFill>
                  <a:srgbClr val="132F3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32F3F"/>
                </a:solidFill>
                <a:latin typeface="Aptos"/>
                <a:ea typeface="Aptos"/>
                <a:cs typeface="Aptos"/>
              </a:rPr>
              <a:t>Hari ini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E577C55-F14A-4583-8BBF-18B7A995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52750"/>
            <a:ext cx="1752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7620">
            <a:solidFill>
              <a:srgbClr val="C8D8D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F8D6B6F-2D80-4821-9394-1F19F547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990850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63" b="0" i="0">
                <a:solidFill>
                  <a:srgbClr val="132F3F"/>
                </a:solidFill>
                <a:latin typeface="Aptos"/>
                <a:ea typeface="Aptos"/>
                <a:cs typeface="Aptos"/>
              </a:defRPr>
            </a:pPr>
            <a:r>
              <a:rPr sz="1163" b="0" i="0">
                <a:solidFill>
                  <a:srgbClr val="132F3F"/>
                </a:solidFill>
                <a:latin typeface="Aptos"/>
                <a:ea typeface="Aptos"/>
                <a:cs typeface="Aptos"/>
              </a:rPr>
              <a:t>Penjualan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4B9268D-CBBE-4ED8-95B4-AB618500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52750"/>
            <a:ext cx="1066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7620">
            <a:solidFill>
              <a:srgbClr val="C8D8D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C086CA5-6E9F-4C12-B682-794AD95E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990850"/>
            <a:ext cx="97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132F3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32F3F"/>
                </a:solidFill>
                <a:latin typeface="Aptos"/>
                <a:ea typeface="Aptos"/>
                <a:cs typeface="Aptos"/>
              </a:rPr>
              <a:t>Rp300.000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A80AF51-C0D0-4D95-96BD-9E7AB633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52750"/>
            <a:ext cx="1295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7620">
            <a:solidFill>
              <a:srgbClr val="C8D8D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B330101-8861-4E80-93C4-F2CAA077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990850"/>
            <a:ext cx="120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132F3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32F3F"/>
                </a:solidFill>
                <a:latin typeface="Aptos"/>
                <a:ea typeface="Aptos"/>
                <a:cs typeface="Aptos"/>
              </a:rPr>
              <a:t>Kas Usaha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80B9E5F-6A77-4B48-8BEC-336BA810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952750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7620">
            <a:solidFill>
              <a:srgbClr val="C8D8D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0FD414D-8662-437B-AB0D-52E84B52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99085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Pemasukan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C96ABBE-2081-47BB-8298-AF429A18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48050"/>
            <a:ext cx="876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5"/>
          </a:solidFill>
          <a:ln xmlns:a="http://schemas.openxmlformats.org/drawingml/2006/main" w="7620">
            <a:solidFill>
              <a:srgbClr val="C8D8D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D3B9017-7B1C-4E92-98A4-D13C9E48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486150"/>
            <a:ext cx="78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 i="0">
                <a:solidFill>
                  <a:srgbClr val="132F3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32F3F"/>
                </a:solidFill>
                <a:latin typeface="Aptos"/>
                <a:ea typeface="Aptos"/>
                <a:cs typeface="Aptos"/>
              </a:rPr>
              <a:t>Hari ini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1EE520C-243D-4363-802E-259A5818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448050"/>
            <a:ext cx="1752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5"/>
          </a:solidFill>
          <a:ln xmlns:a="http://schemas.openxmlformats.org/drawingml/2006/main" w="7620">
            <a:solidFill>
              <a:srgbClr val="C8D8D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954C9F1-105B-4F5E-8F4D-B4DC6F7F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486150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63" b="0" i="0">
                <a:solidFill>
                  <a:srgbClr val="132F3F"/>
                </a:solidFill>
                <a:latin typeface="Aptos"/>
                <a:ea typeface="Aptos"/>
                <a:cs typeface="Aptos"/>
              </a:defRPr>
            </a:pPr>
            <a:r>
              <a:rPr sz="1163" b="0" i="0">
                <a:solidFill>
                  <a:srgbClr val="132F3F"/>
                </a:solidFill>
                <a:latin typeface="Aptos"/>
                <a:ea typeface="Aptos"/>
                <a:cs typeface="Aptos"/>
              </a:rPr>
              <a:t>Plastik kemasan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C98C28E-F5EB-482D-A800-0DB8790D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48050"/>
            <a:ext cx="1066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5"/>
          </a:solidFill>
          <a:ln xmlns:a="http://schemas.openxmlformats.org/drawingml/2006/main" w="7620">
            <a:solidFill>
              <a:srgbClr val="C8D8D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72BDE7C-8FC8-421E-8E8A-7E971C3B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486150"/>
            <a:ext cx="97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132F3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32F3F"/>
                </a:solidFill>
                <a:latin typeface="Aptos"/>
                <a:ea typeface="Aptos"/>
                <a:cs typeface="Aptos"/>
              </a:rPr>
              <a:t>Rp50.000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5198FE1-7F56-48A4-8551-678EC535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48050"/>
            <a:ext cx="1295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5"/>
          </a:solidFill>
          <a:ln xmlns:a="http://schemas.openxmlformats.org/drawingml/2006/main" w="7620">
            <a:solidFill>
              <a:srgbClr val="C8D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61A1B37-C967-4956-AA4D-7A2B296D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486150"/>
            <a:ext cx="120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132F3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32F3F"/>
                </a:solidFill>
                <a:latin typeface="Aptos"/>
                <a:ea typeface="Aptos"/>
                <a:cs typeface="Aptos"/>
              </a:rPr>
              <a:t>Kas Usaha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2F31E36-094B-487F-91E6-6AA4BCBC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448050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5"/>
          </a:solidFill>
          <a:ln xmlns:a="http://schemas.openxmlformats.org/drawingml/2006/main" w="7620">
            <a:solidFill>
              <a:srgbClr val="C8D8D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5633965-4DD2-4B59-9C72-17A58C53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48615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 i="0">
                <a:solidFill>
                  <a:srgbClr val="46606E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6606E"/>
                </a:solidFill>
                <a:latin typeface="Aptos"/>
                <a:ea typeface="Aptos"/>
                <a:cs typeface="Aptos"/>
              </a:rPr>
              <a:t>Pengeluaran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2124E57-D462-499C-BE62-FB4FF52C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43350"/>
            <a:ext cx="876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7620">
            <a:solidFill>
              <a:srgbClr val="C8D8D7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336B5AD-26EA-42DB-A067-382CCB9D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981450"/>
            <a:ext cx="78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 i="0">
                <a:solidFill>
                  <a:srgbClr val="132F3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32F3F"/>
                </a:solidFill>
                <a:latin typeface="Aptos"/>
                <a:ea typeface="Aptos"/>
                <a:cs typeface="Aptos"/>
              </a:rPr>
              <a:t>Hari ini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2908CAA-571A-4FDA-8569-FD6C6228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943350"/>
            <a:ext cx="1752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7620">
            <a:solidFill>
              <a:srgbClr val="C8D8D7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3D69559-784F-444C-9C3F-E50E4CBA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981450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63" b="0" i="0">
                <a:solidFill>
                  <a:srgbClr val="132F3F"/>
                </a:solidFill>
                <a:latin typeface="Aptos"/>
                <a:ea typeface="Aptos"/>
                <a:cs typeface="Aptos"/>
              </a:defRPr>
            </a:pPr>
            <a:r>
              <a:rPr sz="1163" b="0" i="0">
                <a:solidFill>
                  <a:srgbClr val="132F3F"/>
                </a:solidFill>
                <a:latin typeface="Aptos"/>
                <a:ea typeface="Aptos"/>
                <a:cs typeface="Aptos"/>
              </a:rPr>
              <a:t>Jajan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BB52A7E-2F2C-4386-BB87-82F4022E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943350"/>
            <a:ext cx="1066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7620">
            <a:solidFill>
              <a:srgbClr val="C8D8D7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FF31C50-07C5-406A-AC7A-C3D21905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981450"/>
            <a:ext cx="97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132F3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32F3F"/>
                </a:solidFill>
                <a:latin typeface="Aptos"/>
                <a:ea typeface="Aptos"/>
                <a:cs typeface="Aptos"/>
              </a:rPr>
              <a:t>Rp15.000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BC02B5B-7279-4385-9304-70C971CA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43350"/>
            <a:ext cx="1295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7620">
            <a:solidFill>
              <a:srgbClr val="C8D8D7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6FAC570-CF02-45E7-9FB6-90E38662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981450"/>
            <a:ext cx="120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132F3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32F3F"/>
                </a:solidFill>
                <a:latin typeface="Aptos"/>
                <a:ea typeface="Aptos"/>
                <a:cs typeface="Aptos"/>
              </a:rPr>
              <a:t>Kas Pribadi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A9D7980-DA42-41A6-BC54-BDF5E82F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943350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7620">
            <a:solidFill>
              <a:srgbClr val="C8D8D7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1DE790F-CB57-4FDD-8AFA-EEE16964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98145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 i="0">
                <a:solidFill>
                  <a:srgbClr val="46606E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6606E"/>
                </a:solidFill>
                <a:latin typeface="Aptos"/>
                <a:ea typeface="Aptos"/>
                <a:cs typeface="Aptos"/>
              </a:rPr>
              <a:t>Pengeluaran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B496522-97CE-455F-89EB-2F1FCD0E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10100"/>
            <a:ext cx="622935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8C89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E5A00FB-96E1-4381-AADA-5FEDD942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7910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14288">
            <a:solidFill>
              <a:srgbClr val="D99A4E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87ADFDB-5EF9-45AB-83A8-F3B215A7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79107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D99A4E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D99A4E"/>
                </a:solidFill>
                <a:latin typeface="Aptos"/>
                <a:ea typeface="Aptos"/>
                <a:cs typeface="Aptos"/>
              </a:rPr>
              <a:t>?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2DA279B-026B-4C2E-A025-4E3D1634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714875"/>
            <a:ext cx="5314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Transaksi ambigu tidak langsung disimpan; ClearFlow.AI meminta konfirmasi pengguna.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3E283D6-DB57-4A6E-BCCF-5CC23D95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5785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71889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718895"/>
                </a:solidFill>
                <a:latin typeface="Aptos"/>
                <a:ea typeface="Aptos"/>
                <a:cs typeface="Aptos"/>
              </a:rPr>
              <a:t>Input bebas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D65C678-A5CA-4098-909A-DC587829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5310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5B8B1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AD7C16C-6C66-4021-B6FF-F95D9D80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65785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Struktur transaksi</a:t>
            </a:r>
          </a:p>
        </p:txBody>
      </p:sp>
    </p:spTree>
    <p:extLst>
      <p:ext uri="{BB962C8B-B14F-4D97-AF65-F5344CB8AC3E}">
        <p14:creationId xmlns:p14="http://schemas.microsoft.com/office/powerpoint/2010/main" val="134596395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cde1fe8ace4a9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E265F9-BF60-444E-877C-4D1687D9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0DA078-B7B6-4C8F-BD26-2CF3ECE3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 i="0">
                <a:solidFill>
                  <a:srgbClr val="71889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71889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A00C9F2-B812-4FD1-8E97-5484F813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1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4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Bukan Sekadar Mencatat. ClearFlow.AI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4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Membantu UMKM Melihat Arah.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3FF0FF-A235-4A0E-AE06-99F3A205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3333750" cy="2762250"/>
          </a:xfrm>
          <a:prstGeom xmlns:a="http://schemas.openxmlformats.org/drawingml/2006/main" prst="roundRect">
            <a:avLst>
              <a:gd name="adj" fmla="val 758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8D8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10F3A5-9A58-4D93-9C1A-DAF052A9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14288">
            <a:solidFill>
              <a:srgbClr val="238A8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6520E3-BBC2-420C-92C4-8CA221D8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C13609-E404-422D-ABC2-AF007405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38A8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EC40B8-E478-49B8-AC8B-8971B075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2819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1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Arus kas lebih transparan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73B14A-2E20-44FC-964F-CF93F4D7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2838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46606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46606E"/>
                </a:solidFill>
                <a:latin typeface="Aptos"/>
                <a:ea typeface="Aptos"/>
                <a:cs typeface="Aptos"/>
              </a:rPr>
              <a:t>Pemilik dapat melihat pemasukan dan pengeluaran usaha dengan lebih cepat.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A519AC-EDB0-4232-9BF0-2658EDE1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47850"/>
            <a:ext cx="3333750" cy="2762250"/>
          </a:xfrm>
          <a:prstGeom xmlns:a="http://schemas.openxmlformats.org/drawingml/2006/main" prst="roundRect">
            <a:avLst>
              <a:gd name="adj" fmla="val 7586"/>
            </a:avLst>
          </a:prstGeom>
          <a:solidFill xmlns:a="http://schemas.openxmlformats.org/drawingml/2006/main">
            <a:srgbClr val="F0F8F6"/>
          </a:solidFill>
          <a:ln xmlns:a="http://schemas.openxmlformats.org/drawingml/2006/main" w="19050">
            <a:solidFill>
              <a:srgbClr val="65B8B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168992-0C65-4C46-BC9F-0510CABB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95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14288">
            <a:solidFill>
              <a:srgbClr val="238A8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12DD2D-A01D-40DC-96A1-BBA231E1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95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2E44E8-0ABF-4D22-AA73-A3BB1AB2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860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38A8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9D8C5E-48DE-4D0D-ADFA-56C2E5BF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14650"/>
            <a:ext cx="2819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1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Modal usaha lebih terlindungi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274BDA-936C-488F-B211-2D2A5959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33800"/>
            <a:ext cx="2838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46606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46606E"/>
                </a:solidFill>
                <a:latin typeface="Aptos"/>
                <a:ea typeface="Aptos"/>
                <a:cs typeface="Aptos"/>
              </a:rPr>
              <a:t>Pemisahan kas membantu mencegah dana usaha terpakai tanpa disadari.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0B6B9B-73DE-4232-A750-882D22D0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47850"/>
            <a:ext cx="3333750" cy="2762250"/>
          </a:xfrm>
          <a:prstGeom xmlns:a="http://schemas.openxmlformats.org/drawingml/2006/main" prst="roundRect">
            <a:avLst>
              <a:gd name="adj" fmla="val 758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8D8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A51BAD-A791-41F4-A654-7AFBA026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95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14288">
            <a:solidFill>
              <a:srgbClr val="238A8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AC632E-58A5-4B68-81C9-1D08ECCC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95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49BE0E-C1BA-431B-B1B5-855B7C66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860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38A8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C261A0-D7C2-4FAF-8F81-9CC8B936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14650"/>
            <a:ext cx="2819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1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Pembukuan lebih mudah diadopsi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D55FA6-7302-42D7-B9D3-F647B394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33800"/>
            <a:ext cx="2838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46606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46606E"/>
                </a:solidFill>
                <a:latin typeface="Aptos"/>
                <a:ea typeface="Aptos"/>
                <a:cs typeface="Aptos"/>
              </a:rPr>
              <a:t>UMKM dapat mulai mencatat tanpa harus memahami rumus atau istilah akuntansi yang rumit.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DF9405-66CA-4A9A-B394-B8B1D4D0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14900"/>
            <a:ext cx="10610850" cy="9144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BD4607-47B5-4A50-BF43-BA515FCF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149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8FD0C9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8FD0C9"/>
                </a:solidFill>
                <a:latin typeface="Aptos"/>
                <a:ea typeface="Aptos"/>
                <a:cs typeface="Aptos"/>
              </a:rPr>
              <a:t>ClearFlow.AI 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D16348-E33D-4238-811D-7A0D8D9A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076825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3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dari transaksi harian yang berantakan menuju keputusan usaha yang lebih jernih.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AEE723-4689-4BEB-85A2-507A09FE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531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Prototype siap diuji untuk UMKM Cirebon  |  Q&amp;A</a:t>
            </a:r>
          </a:p>
        </p:txBody>
      </p:sp>
    </p:spTree>
    <p:extLst>
      <p:ext uri="{BB962C8B-B14F-4D97-AF65-F5344CB8AC3E}">
        <p14:creationId xmlns:p14="http://schemas.microsoft.com/office/powerpoint/2010/main" val="13708752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2026-08-04T15:01:27.2490000Z</dcterms:created>
  <dcterms:modified xsi:type="dcterms:W3CDTF">2026-08-04T15:01:27.2490000Z</dcterms:modified>
</coreProperties>
</file>