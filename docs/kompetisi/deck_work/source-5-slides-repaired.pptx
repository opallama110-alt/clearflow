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1615ca16ba224135" Type="http://schemas.openxmlformats.org/package/2006/relationships/metadata/core-properties" Target="docProps/core.xml"/><Relationship Id="R341154823f4a4d93" Type="http://schemas.openxmlformats.org/officeDocument/2006/relationships/officeDocument" Target="ppt/presentation.xml"/><Relationship Id="Rb9ea8d8b73814d32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2e947515fb24811"/>
  </p:sldMasterIdLst>
  <p:notesMasterIdLst>
    <p:notesMasterId xmlns:r="http://schemas.openxmlformats.org/officeDocument/2006/relationships" r:id="R6a66eae1608a45c2"/>
  </p:notesMasterIdLst>
  <p:sldIdLst>
    <p:sldId xmlns:r="http://schemas.openxmlformats.org/officeDocument/2006/relationships" id="256" r:id="R8063cfc2d68544b3"/>
    <p:sldId xmlns:r="http://schemas.openxmlformats.org/officeDocument/2006/relationships" id="257" r:id="R3972622f5baf4f97"/>
    <p:sldId xmlns:r="http://schemas.openxmlformats.org/officeDocument/2006/relationships" id="258" r:id="R16ccc13a118e4ce0"/>
    <p:sldId xmlns:r="http://schemas.openxmlformats.org/officeDocument/2006/relationships" id="259" r:id="R62182c9409f74347"/>
    <p:sldId xmlns:r="http://schemas.openxmlformats.org/officeDocument/2006/relationships" id="260" r:id="Rc62200dc760944a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2e947515fb24811" Type="http://schemas.openxmlformats.org/officeDocument/2006/relationships/slideMaster" Target="slideMasters/slideMaster1.xml"/><Relationship Id="R16ccc13a118e4ce0" Type="http://schemas.openxmlformats.org/officeDocument/2006/relationships/slide" Target="slides/slide3.xml"/><Relationship Id="R2163c08f113f4087" Type="http://schemas.openxmlformats.org/officeDocument/2006/relationships/presProps" Target="presProps.xml"/><Relationship Id="R3972622f5baf4f97" Type="http://schemas.openxmlformats.org/officeDocument/2006/relationships/slide" Target="slides/slide2.xml"/><Relationship Id="R62182c9409f74347" Type="http://schemas.openxmlformats.org/officeDocument/2006/relationships/slide" Target="slides/slide4.xml"/><Relationship Id="R6a66eae1608a45c2" Type="http://schemas.openxmlformats.org/officeDocument/2006/relationships/notesMaster" Target="notesMasters/notesMaster1.xml"/><Relationship Id="R6d6dabc762d740aa" Type="http://schemas.openxmlformats.org/officeDocument/2006/relationships/theme" Target="theme/theme1.xml"/><Relationship Id="R8063cfc2d68544b3" Type="http://schemas.openxmlformats.org/officeDocument/2006/relationships/slide" Target="slides/slide1.xml"/><Relationship Id="R92b2afb3e74043f3" Type="http://schemas.openxmlformats.org/officeDocument/2006/relationships/tableStyles" Target="tableStyles.xml"/><Relationship Id="Rc62200dc760944aa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b22314fb7fe24fcb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91086b7ee3ae46e5" Type="http://schemas.openxmlformats.org/officeDocument/2006/relationships/notesMaster" Target="../notesMasters/notesMaster1.xml"/><Relationship Id="Rbab72a62951543ac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17912931674f4ce7" Type="http://schemas.openxmlformats.org/officeDocument/2006/relationships/slide" Target="../slides/slide2.xml"/><Relationship Id="Rbd96d7b584474423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0ec11ead06844ffa" Type="http://schemas.openxmlformats.org/officeDocument/2006/relationships/notesMaster" Target="../notesMasters/notesMaster1.xml"/><Relationship Id="Rc5b20dc999ba4e0a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9fa7ff9d057444d7" Type="http://schemas.openxmlformats.org/officeDocument/2006/relationships/notesMaster" Target="../notesMasters/notesMaster1.xml"/><Relationship Id="Rfc21e1b341ca414f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4bc4248b374643e9" Type="http://schemas.openxmlformats.org/officeDocument/2006/relationships/slide" Target="../slides/slide5.xml"/><Relationship Id="Rba1dc1049a3d404e" Type="http://schemas.openxmlformats.org/officeDocument/2006/relationships/notesMaster" Target="../notesMasters/notesMaster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Konten inti: diberikan oleh pengguna pada 4 Agustus 2026.</a:t>
            </a:r>
          </a:p>
          <a:p xmlns:a="http://schemas.openxmlformats.org/drawingml/2006/main">
            <a:r>
              <a:t>- Tekstur Mega Mendung: aset orisinal yang dibuat untuk deck ini.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Konten inti: diberikan oleh pengguna pada 4 Agustus 2026.</a:t>
            </a:r>
          </a:p>
          <a:p xmlns:a="http://schemas.openxmlformats.org/drawingml/2006/main">
            <a:r>
              <a:t>- Tekstur Mega Mendung: aset orisinal yang dibuat untuk deck ini.</a:t>
            </a:r>
          </a:p>
          <a:p xmlns:a="http://schemas.openxmlformats.org/drawingml/2006/main">
            <a:r>
              <a:t>- Label assessment Bank Indonesia Cirebon: ditampilkan sesuai teks pengguna; tidak ada angka statistik tambahan.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Konten inti: diberikan oleh pengguna pada 4 Agustus 2026.</a:t>
            </a:r>
          </a:p>
          <a:p xmlns:a="http://schemas.openxmlformats.org/drawingml/2006/main">
            <a:r>
              <a:t>- Tekstur Mega Mendung: aset orisinal yang dibuat untuk deck ini.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Konten inti: diberikan oleh pengguna pada 4 Agustus 2026.</a:t>
            </a:r>
          </a:p>
          <a:p xmlns:a="http://schemas.openxmlformats.org/drawingml/2006/main">
            <a:r>
              <a:t>- Tekstur Mega Mendung: aset orisinal yang dibuat untuk deck ini.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Konten inti: diberikan oleh pengguna pada 4 Agustus 2026.</a:t>
            </a:r>
          </a:p>
          <a:p xmlns:a="http://schemas.openxmlformats.org/drawingml/2006/main">
            <a:r>
              <a:t>- Tekstur Mega Mendung: aset orisinal yang dibuat untuk deck ini.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16db02dcb76348ef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113935cdb0274460" Type="http://schemas.openxmlformats.org/officeDocument/2006/relationships/theme" Target="theme/theme2.xml"/><Relationship Id="Rdd62b843484047bb" Type="http://schemas.openxmlformats.org/officeDocument/2006/relationships/slideLayout" Target="../slideLayouts/slideLayout1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d62b843484047b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24bd9af6f4cf4e3e" Type="http://schemas.openxmlformats.org/officeDocument/2006/relationships/slideLayout" Target="../slideLayouts/slideLayout1.xml"/><Relationship Id="R8e7c8dcae9e54d05" Type="http://schemas.openxmlformats.org/officeDocument/2006/relationships/notesSlide" Target="../notesSlides/notesSlide1.xml"/><Relationship Id="Ra6dedfcf97bf42d5" Type="http://schemas.openxmlformats.org/officeDocument/2006/relationships/image" Target="../media/image.png"/></Relationships>
</file>

<file path=ppt/slides/_rels/slide2.xml.rels><?xml version='1.0' encoding='UTF-8' standalone='yes'?>
<Relationships xmlns="http://schemas.openxmlformats.org/package/2006/relationships"><Relationship Id="R076fe37329c547bb" Type="http://schemas.openxmlformats.org/officeDocument/2006/relationships/notesSlide" Target="../notesSlides/notesSlide2.xml"/><Relationship Id="R5c7e45a4b5b04005" Type="http://schemas.openxmlformats.org/officeDocument/2006/relationships/slideLayout" Target="../slideLayouts/slideLayout1.xml"/><Relationship Id="Rdc8e83cb227a4024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49bb407a91ec466d" Type="http://schemas.openxmlformats.org/officeDocument/2006/relationships/image" Target="../media/image3.png"/><Relationship Id="R86b86294d8494e52" Type="http://schemas.openxmlformats.org/officeDocument/2006/relationships/slideLayout" Target="../slideLayouts/slideLayout1.xml"/><Relationship Id="R8bbb00d8f6184597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1a1183ac86f24a58" Type="http://schemas.openxmlformats.org/officeDocument/2006/relationships/image" Target="../media/image4.png"/><Relationship Id="R5e59c7c399214fcd" Type="http://schemas.openxmlformats.org/officeDocument/2006/relationships/notesSlide" Target="../notesSlides/notesSlide4.xml"/><Relationship Id="Re6ec44709804473f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2a6b335253eb4d21" Type="http://schemas.openxmlformats.org/officeDocument/2006/relationships/notesSlide" Target="../notesSlides/notesSlide5.xml"/><Relationship Id="R2acde1fe8ace4a9f" Type="http://schemas.openxmlformats.org/officeDocument/2006/relationships/image" Target="../media/image5.png"/><Relationship Id="R5f84d266a80d4751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dedfcf97bf42d5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90E447-AC48-45E9-829F-D8AD3E208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A8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A0029A-34D8-4F1E-A91B-9F03866CF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 i="0">
                <a:solidFill>
                  <a:srgbClr val="718895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718895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DB671F85-F104-488F-83BC-8E9ED976A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4350"/>
            <a:ext cx="3905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238A84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238A84"/>
                </a:solidFill>
                <a:latin typeface="Aptos"/>
                <a:ea typeface="Aptos"/>
                <a:cs typeface="Aptos"/>
              </a:rPr>
              <a:t>AI SOLUTIONS FOR SMES · UMKM CIREBON</a:t>
            </a:r>
          </a:p>
        </p:txBody>
      </p:sp>
      <p:sp>
        <p:nvSpPr>
          <p:cNvPr id="5" name="deck-title">
            <a:extLst xmlns:a="http://schemas.openxmlformats.org/drawingml/2006/main">
              <a:ext uri="{FF2B5EF4-FFF2-40B4-BE49-F238E27FC236}">
                <a16:creationId xmlns:a16="http://schemas.microsoft.com/office/drawing/2014/main" id="{F29F8006-249E-4956-A58C-98DE377AD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0125"/>
            <a:ext cx="5810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55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55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ClearFlow.AI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D25812-3BA1-4F96-BA92-9BE2D9B8F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62150"/>
            <a:ext cx="5334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 i="0">
                <a:solidFill>
                  <a:srgbClr val="238A84"/>
                </a:solidFill>
                <a:latin typeface="Aptos"/>
                <a:ea typeface="Aptos"/>
                <a:cs typeface="Aptos"/>
              </a:defRPr>
            </a:pPr>
            <a:r>
              <a:rPr sz="2325" b="1" i="0">
                <a:solidFill>
                  <a:srgbClr val="238A84"/>
                </a:solidFill>
                <a:latin typeface="Aptos"/>
                <a:ea typeface="Aptos"/>
                <a:cs typeface="Aptos"/>
              </a:rPr>
              <a:t>Pembukuan yang mengalir,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2325" b="1" i="0">
                <a:solidFill>
                  <a:srgbClr val="238A84"/>
                </a:solidFill>
                <a:latin typeface="Aptos"/>
                <a:ea typeface="Aptos"/>
                <a:cs typeface="Aptos"/>
              </a:defRPr>
            </a:pPr>
            <a:r>
              <a:rPr sz="2325" b="1" i="0">
                <a:solidFill>
                  <a:srgbClr val="238A84"/>
                </a:solidFill>
                <a:latin typeface="Aptos"/>
                <a:ea typeface="Aptos"/>
                <a:cs typeface="Aptos"/>
              </a:rPr>
              <a:t>keputusan yang lebih jernih.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49C3B1-3973-409B-B65E-8E444E57A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48000"/>
            <a:ext cx="495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0" i="0">
                <a:solidFill>
                  <a:srgbClr val="46606E"/>
                </a:solidFill>
                <a:latin typeface="Aptos"/>
                <a:ea typeface="Aptos"/>
                <a:cs typeface="Aptos"/>
              </a:defRPr>
            </a:pPr>
            <a:r>
              <a:rPr sz="1725" b="0" i="0">
                <a:solidFill>
                  <a:srgbClr val="46606E"/>
                </a:solidFill>
                <a:latin typeface="Aptos"/>
                <a:ea typeface="Aptos"/>
                <a:cs typeface="Aptos"/>
              </a:rPr>
              <a:t>Asisten pembukuan cerdas untuk membantu UMKM memisahkan uang usaha dan uang pribadi.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EDDFCE-3CA0-4669-9CBF-8EB8A3AD4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67200"/>
            <a:ext cx="333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8D8D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36EBAC-3152-45D1-8393-03D598DBD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243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Fatimah Azzahra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5B9117-5417-40FC-BA17-186DF9034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29175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718895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718895"/>
                </a:solidFill>
                <a:latin typeface="Aptos"/>
                <a:ea typeface="Aptos"/>
                <a:cs typeface="Aptos"/>
              </a:rPr>
              <a:t>UIN Cyber Cirebon  ·  16 Juli 2006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734227-3037-494A-B9AD-D31C75FB6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68580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718895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718895"/>
                </a:solidFill>
                <a:latin typeface="Aptos"/>
                <a:ea typeface="Aptos"/>
                <a:cs typeface="Aptos"/>
              </a:rPr>
              <a:t>CERITA TRANSAKSI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AE0F73-CAA7-46AE-9829-77275C7BB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552575"/>
            <a:ext cx="1333500" cy="714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5B8B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151B85-4F27-4519-8E7E-FAB4A4055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14600"/>
            <a:ext cx="1333500" cy="-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5B8B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7FFED4-4A31-4316-B8C7-1F3D43A48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76625"/>
            <a:ext cx="1333500" cy="-1095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5B8B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8BEC47-79AB-4B47-9073-6A2BF6A53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812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38A8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5E7ED2-5E3D-4D3C-A70B-DBFE60C5C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31445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238A8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32C65F-CDB0-4B60-AC06-05ECAF6F1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314450"/>
            <a:ext cx="628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 i="0">
                <a:solidFill>
                  <a:srgbClr val="238A84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238A84"/>
                </a:solidFill>
                <a:latin typeface="Aptos"/>
                <a:ea typeface="Aptos"/>
                <a:cs typeface="Aptos"/>
              </a:rPr>
              <a:t>+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8F0A0A-D046-405D-8A92-D26C8164B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76475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4F1"/>
          </a:solidFill>
          <a:ln xmlns:a="http://schemas.openxmlformats.org/drawingml/2006/main" w="19050">
            <a:solidFill>
              <a:srgbClr val="238A8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66DAC2-9223-4E57-B4EB-A5EC6635B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76475"/>
            <a:ext cx="628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 i="0">
                <a:solidFill>
                  <a:srgbClr val="238A84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238A84"/>
                </a:solidFill>
                <a:latin typeface="Aptos"/>
                <a:ea typeface="Aptos"/>
                <a:cs typeface="Aptos"/>
              </a:rPr>
              <a:t>Rp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4B3DD8-B115-4037-A6F1-CCF8A2D4E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3850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238A8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123478-62F5-41E0-B179-9A39E90BD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38500"/>
            <a:ext cx="628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 i="0">
                <a:solidFill>
                  <a:srgbClr val="238A84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238A84"/>
                </a:solidFill>
                <a:latin typeface="Aptos"/>
                <a:ea typeface="Aptos"/>
                <a:cs typeface="Aptos"/>
              </a:rPr>
              <a:t>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D384ED-EFA3-4B07-8A95-0EE4E0D64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1717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8A84"/>
          </a:solidFill>
          <a:ln xmlns:a="http://schemas.openxmlformats.org/drawingml/2006/main" w="0">
            <a:solidFill>
              <a:srgbClr val="238A8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3AB544-39B9-49F0-92A2-0A576688F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17170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5" b="1" i="0">
                <a:solidFill>
                  <a:srgbClr val="FFFDF8"/>
                </a:solidFill>
                <a:latin typeface="Aptos"/>
                <a:ea typeface="Aptos"/>
                <a:cs typeface="Aptos"/>
              </a:defRPr>
            </a:pPr>
            <a:r>
              <a:rPr sz="1875" b="1" i="0">
                <a:solidFill>
                  <a:srgbClr val="FFFDF8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7FF2991-326E-4946-95C1-FA98C6B5B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238250"/>
            <a:ext cx="3048000" cy="3143250"/>
          </a:xfrm>
          <a:prstGeom xmlns:a="http://schemas.openxmlformats.org/drawingml/2006/main" prst="roundRect">
            <a:avLst>
              <a:gd name="adj" fmla="val 5625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4288">
            <a:solidFill>
              <a:srgbClr val="BCD0C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DF6B00A-F6AD-4C50-8FC5-48D9F37AE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238250"/>
            <a:ext cx="3048000" cy="361950"/>
          </a:xfrm>
          <a:prstGeom xmlns:a="http://schemas.openxmlformats.org/drawingml/2006/main" prst="roundRect">
            <a:avLst>
              <a:gd name="adj" fmla="val 36842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DB0DF35-4DC3-4697-B101-5D66C9FF7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3525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B8B1"/>
          </a:solidFill>
          <a:ln xmlns:a="http://schemas.openxmlformats.org/drawingml/2006/main" w="0">
            <a:solidFill>
              <a:srgbClr val="65B8B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E2FC462-FE60-4FEC-A2C1-6A48B417E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3525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2415AE6-269A-4B49-95A5-7627A887F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323975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FFFDF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DF8"/>
                </a:solidFill>
                <a:latin typeface="Aptos"/>
                <a:ea typeface="Aptos"/>
                <a:cs typeface="Aptos"/>
              </a:rPr>
              <a:t>CLEARFLOW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295A0EC-3F45-4A6F-9D17-BF4651386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7907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46606E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46606E"/>
                </a:solidFill>
                <a:latin typeface="Aptos"/>
                <a:ea typeface="Aptos"/>
                <a:cs typeface="Aptos"/>
              </a:rPr>
              <a:t>Kas Usaha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B63A9B0-329C-42FB-B304-6934A5EED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000250"/>
            <a:ext cx="1285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0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Rp250.000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63BBF7F-A922-434D-8DFE-DACA2A763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7907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46606E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46606E"/>
                </a:solidFill>
                <a:latin typeface="Aptos"/>
                <a:ea typeface="Aptos"/>
                <a:cs typeface="Aptos"/>
              </a:rPr>
              <a:t>Kas Pribadi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C9FCDC5-C339-4714-AD65-3EAA9A3A6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0002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238A84"/>
                </a:solidFill>
                <a:latin typeface="Aptos"/>
                <a:ea typeface="Aptos"/>
                <a:cs typeface="Aptos"/>
              </a:defRPr>
            </a:pPr>
            <a:r>
              <a:rPr sz="1875" b="1" i="0">
                <a:solidFill>
                  <a:srgbClr val="238A84"/>
                </a:solidFill>
                <a:latin typeface="Aptos"/>
                <a:ea typeface="Aptos"/>
                <a:cs typeface="Aptos"/>
              </a:rPr>
              <a:t>−Rp15.000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90C7380-81E2-4806-BCA7-6A28091AE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438400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8D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D6781CE-A4B0-4F1C-8F0B-0728A32A2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714750"/>
            <a:ext cx="171450" cy="438150"/>
          </a:xfrm>
          <a:prstGeom xmlns:a="http://schemas.openxmlformats.org/drawingml/2006/main" prst="roundRect">
            <a:avLst>
              <a:gd name="adj" fmla="val 27778"/>
            </a:avLst>
          </a:prstGeom>
          <a:solidFill xmlns:a="http://schemas.openxmlformats.org/drawingml/2006/main">
            <a:srgbClr val="B9DA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B927176-E555-40F9-82D1-8CA0C43AC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448050"/>
            <a:ext cx="171450" cy="704850"/>
          </a:xfrm>
          <a:prstGeom xmlns:a="http://schemas.openxmlformats.org/drawingml/2006/main" prst="roundRect">
            <a:avLst>
              <a:gd name="adj" fmla="val 27778"/>
            </a:avLst>
          </a:prstGeom>
          <a:solidFill xmlns:a="http://schemas.openxmlformats.org/drawingml/2006/main">
            <a:srgbClr val="B9DA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BC39C99-C263-4312-B282-746381F64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771900"/>
            <a:ext cx="171450" cy="381000"/>
          </a:xfrm>
          <a:prstGeom xmlns:a="http://schemas.openxmlformats.org/drawingml/2006/main" prst="roundRect">
            <a:avLst>
              <a:gd name="adj" fmla="val 27778"/>
            </a:avLst>
          </a:prstGeom>
          <a:solidFill xmlns:a="http://schemas.openxmlformats.org/drawingml/2006/main">
            <a:srgbClr val="B9DA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321A8A0-AC10-4581-8AC3-C55F27D5E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276600"/>
            <a:ext cx="171450" cy="876300"/>
          </a:xfrm>
          <a:prstGeom xmlns:a="http://schemas.openxmlformats.org/drawingml/2006/main" prst="roundRect">
            <a:avLst>
              <a:gd name="adj" fmla="val 27778"/>
            </a:avLst>
          </a:prstGeom>
          <a:solidFill xmlns:a="http://schemas.openxmlformats.org/drawingml/2006/main">
            <a:srgbClr val="B9DA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ECAD439-8FF1-4291-B328-8E75548B3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600450"/>
            <a:ext cx="171450" cy="552450"/>
          </a:xfrm>
          <a:prstGeom xmlns:a="http://schemas.openxmlformats.org/drawingml/2006/main" prst="roundRect">
            <a:avLst>
              <a:gd name="adj" fmla="val 27778"/>
            </a:avLst>
          </a:prstGeom>
          <a:solidFill xmlns:a="http://schemas.openxmlformats.org/drawingml/2006/main">
            <a:srgbClr val="B9DA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50B3E53-1CCB-4221-A484-E5AEFD393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143250"/>
            <a:ext cx="171450" cy="1009650"/>
          </a:xfrm>
          <a:prstGeom xmlns:a="http://schemas.openxmlformats.org/drawingml/2006/main" prst="roundRect">
            <a:avLst>
              <a:gd name="adj" fmla="val 27778"/>
            </a:avLst>
          </a:prstGeom>
          <a:solidFill xmlns:a="http://schemas.openxmlformats.org/drawingml/2006/main">
            <a:srgbClr val="238A8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ED3533B-2930-4BB7-B9F7-E1D33265C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819650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04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Beberapa transaksi  →  satu gambaran kas yang jernih</a:t>
            </a:r>
          </a:p>
        </p:txBody>
      </p:sp>
    </p:spTree>
    <p:extLst>
      <p:ext uri="{BB962C8B-B14F-4D97-AF65-F5344CB8AC3E}">
        <p14:creationId xmlns:p14="http://schemas.microsoft.com/office/powerpoint/2010/main" val="84726766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8e83cb227a4024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36C8A3-16F8-474C-AEE3-971CDED78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A8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2967FB-4828-45F3-8FC4-5FC8A1F6E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 i="0">
                <a:solidFill>
                  <a:srgbClr val="718895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718895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DBC97D7-E318-41AC-96A1-9F4DF5962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128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4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34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Ketika Uang Usaha dan Pribadi Berbaur,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34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34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Keputusan Jadi Kabur.</a:t>
            </a:r>
          </a:p>
        </p:txBody>
      </p:sp>
      <p:sp>
        <p:nvSpPr>
          <p:cNvPr id="5" name="eyebrow">
            <a:extLst xmlns:a="http://schemas.openxmlformats.org/drawingml/2006/main">
              <a:ext uri="{FF2B5EF4-FFF2-40B4-BE49-F238E27FC236}">
                <a16:creationId xmlns:a16="http://schemas.microsoft.com/office/drawing/2014/main" id="{0C0A77A0-F1D9-43BC-8263-43FC0EE99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742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718895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718895"/>
                </a:solidFill>
                <a:latin typeface="Aptos"/>
                <a:ea typeface="Aptos"/>
                <a:cs typeface="Aptos"/>
              </a:rPr>
              <a:t>TOP 5 MASALAH UMKM CIREBON — HASIL ASSESSMENT BANK INDONESIA CIREBON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475AE1-EC02-4E05-ACA4-B8F1E89D3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143250"/>
            <a:ext cx="60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5B8B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D697D1-8150-4285-A421-AFA8455A5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914650"/>
            <a:ext cx="30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1" i="0">
                <a:solidFill>
                  <a:srgbClr val="238A84"/>
                </a:solidFill>
                <a:latin typeface="Aptos"/>
                <a:ea typeface="Aptos"/>
                <a:cs typeface="Aptos"/>
              </a:defRPr>
            </a:pPr>
            <a:r>
              <a:rPr sz="1950" b="1" i="0">
                <a:solidFill>
                  <a:srgbClr val="238A84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44CC3B-EDF2-4E58-9F88-5DC5B4044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143250"/>
            <a:ext cx="60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5B8B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42E69E-5D53-4549-9760-A6C25EC59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2914650"/>
            <a:ext cx="30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1" i="0">
                <a:solidFill>
                  <a:srgbClr val="238A84"/>
                </a:solidFill>
                <a:latin typeface="Aptos"/>
                <a:ea typeface="Aptos"/>
                <a:cs typeface="Aptos"/>
              </a:defRPr>
            </a:pPr>
            <a:r>
              <a:rPr sz="1950" b="1" i="0">
                <a:solidFill>
                  <a:srgbClr val="238A84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6BDBD9-210C-4971-8B87-6A4923E7D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43100"/>
            <a:ext cx="3067050" cy="2800350"/>
          </a:xfrm>
          <a:prstGeom xmlns:a="http://schemas.openxmlformats.org/drawingml/2006/main" prst="roundRect">
            <a:avLst>
              <a:gd name="adj" fmla="val 680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8D8D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BE2CF9-917B-49E1-9118-5D14FED5F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717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4F1"/>
          </a:solidFill>
          <a:ln xmlns:a="http://schemas.openxmlformats.org/drawingml/2006/main" w="14288">
            <a:solidFill>
              <a:srgbClr val="238A8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9C0F25-398D-4109-BB19-2154E5B82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717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 i="0">
                <a:solidFill>
                  <a:srgbClr val="238A84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238A84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2547DE-7B93-4AAE-8FD4-84342B8AF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43200"/>
            <a:ext cx="2571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17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17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Pencatatan belum rapi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3C563F-2343-4C3F-AF22-EC32C5D8A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3855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38A8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D85A3A-A1A3-4DAC-BEB4-FB4C6B089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48100"/>
            <a:ext cx="2590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73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46606E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46606E"/>
                </a:solidFill>
                <a:latin typeface="Aptos"/>
                <a:ea typeface="Aptos"/>
                <a:cs typeface="Aptos"/>
              </a:rPr>
              <a:t>Transaksi harian masih mengandalkan ingatan, catatan acak, atau chat pribadi.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7306F5-766B-4592-80A0-F27D7CBFB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943100"/>
            <a:ext cx="3067050" cy="2800350"/>
          </a:xfrm>
          <a:prstGeom xmlns:a="http://schemas.openxmlformats.org/drawingml/2006/main" prst="roundRect">
            <a:avLst>
              <a:gd name="adj" fmla="val 6803"/>
            </a:avLst>
          </a:prstGeom>
          <a:solidFill xmlns:a="http://schemas.openxmlformats.org/drawingml/2006/main">
            <a:srgbClr val="F2F8F6"/>
          </a:solidFill>
          <a:ln xmlns:a="http://schemas.openxmlformats.org/drawingml/2006/main" w="19050">
            <a:solidFill>
              <a:srgbClr val="65B8B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ECAF2E-FEEB-447C-B904-CA8040338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1717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4F1"/>
          </a:solidFill>
          <a:ln xmlns:a="http://schemas.openxmlformats.org/drawingml/2006/main" w="14288">
            <a:solidFill>
              <a:srgbClr val="238A8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C72E43-2FAB-4048-8C44-755AA665A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1717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 i="0">
                <a:solidFill>
                  <a:srgbClr val="238A84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238A84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234ACE-9A1B-4BA1-803F-8703AFE95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743200"/>
            <a:ext cx="2571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17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17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Kas pribadi dan usaha tercampur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84C0FE-B5D0-45AF-B336-796EA5225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63855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38A8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76E595-EC23-44C4-BD2A-E7340AA48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848100"/>
            <a:ext cx="2590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73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46606E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46606E"/>
                </a:solidFill>
                <a:latin typeface="Aptos"/>
                <a:ea typeface="Aptos"/>
                <a:cs typeface="Aptos"/>
              </a:rPr>
              <a:t>Pengeluaran rumah tangga dan operasional usaha sulit dibedakan.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16B883-951D-406B-9984-0C079E7E1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943100"/>
            <a:ext cx="3067050" cy="2800350"/>
          </a:xfrm>
          <a:prstGeom xmlns:a="http://schemas.openxmlformats.org/drawingml/2006/main" prst="roundRect">
            <a:avLst>
              <a:gd name="adj" fmla="val 680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8D8D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1727E9-A67C-49CD-8A3E-2CBFC4A87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1717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4F1"/>
          </a:solidFill>
          <a:ln xmlns:a="http://schemas.openxmlformats.org/drawingml/2006/main" w="14288">
            <a:solidFill>
              <a:srgbClr val="238A8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361276F-0CCD-4505-8745-A52922396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1717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 i="0">
                <a:solidFill>
                  <a:srgbClr val="238A84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238A84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599D78D-F9B4-4E99-B8CC-B4964818F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743200"/>
            <a:ext cx="2571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17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17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Laba/rugi tidak terlihat jelas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B999BE3-973A-43A5-A077-498416D2E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63855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38A8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224F309-B004-4690-98CF-E4717BDFD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848100"/>
            <a:ext cx="2590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73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46606E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46606E"/>
                </a:solidFill>
                <a:latin typeface="Aptos"/>
                <a:ea typeface="Aptos"/>
                <a:cs typeface="Aptos"/>
              </a:rPr>
              <a:t>Usaha terasa ramai, tetapi pemilik belum mengetahui kondisi keuangan sebenarnya.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7CAE599-CB51-42F8-8F8B-6352F8AAD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48250"/>
            <a:ext cx="10420350" cy="110490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E9E2FDB-C730-4358-83C8-BA8B39246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76850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 i="0">
                <a:solidFill>
                  <a:srgbClr val="8FD0C9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8FD0C9"/>
                </a:solidFill>
                <a:latin typeface="Aptos"/>
                <a:ea typeface="Aptos"/>
                <a:cs typeface="Aptos"/>
              </a:rPr>
              <a:t>AKIBATNYA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2154DD8-DAA2-47EF-AADF-66CDDF998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5210175"/>
            <a:ext cx="8420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 i="0">
                <a:solidFill>
                  <a:srgbClr val="FFFDF8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FFFDF8"/>
                </a:solidFill>
                <a:latin typeface="Aptos"/>
                <a:ea typeface="Aptos"/>
                <a:cs typeface="Aptos"/>
              </a:rPr>
              <a:t>Pelaku UMKM sulit menjaga modal kerja, mengevaluasi pengeluaran, dan menentukan langkah pengembangan usaha.</a:t>
            </a:r>
          </a:p>
        </p:txBody>
      </p:sp>
    </p:spTree>
    <p:extLst>
      <p:ext uri="{BB962C8B-B14F-4D97-AF65-F5344CB8AC3E}">
        <p14:creationId xmlns:p14="http://schemas.microsoft.com/office/powerpoint/2010/main" val="94160979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bb407a91ec466d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00D2EB-DBFA-4D5C-B9D2-D1B7219D5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A8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B77A8B-67B2-4F43-AD78-6FF53A03E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 i="0">
                <a:solidFill>
                  <a:srgbClr val="718895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718895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0845C2C-045A-4EE1-9205-98F9B95D8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128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4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34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ClearFlow.AI Mengubah Cerita Transaksi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34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34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Menjadi Kejelasan Finansial.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E1BF7D-9E66-403D-8025-8CFAAEC70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162300"/>
            <a:ext cx="8877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A9CCC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E39DDB-0777-4881-819C-6FA5F60E7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933700"/>
            <a:ext cx="323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250" b="1" i="0">
                <a:solidFill>
                  <a:srgbClr val="238A84"/>
                </a:solidFill>
                <a:latin typeface="Aptos"/>
                <a:ea typeface="Aptos"/>
                <a:cs typeface="Aptos"/>
              </a:defRPr>
            </a:pPr>
            <a:r>
              <a:rPr sz="2250" b="1" i="0">
                <a:solidFill>
                  <a:srgbClr val="238A84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5800EC-B756-41E6-BA4C-F4B1C4AC7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933700"/>
            <a:ext cx="323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250" b="1" i="0">
                <a:solidFill>
                  <a:srgbClr val="238A84"/>
                </a:solidFill>
                <a:latin typeface="Aptos"/>
                <a:ea typeface="Aptos"/>
                <a:cs typeface="Aptos"/>
              </a:defRPr>
            </a:pPr>
            <a:r>
              <a:rPr sz="2250" b="1" i="0">
                <a:solidFill>
                  <a:srgbClr val="238A84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895159-05AF-45D1-8D91-FB0750434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933700"/>
            <a:ext cx="323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250" b="1" i="0">
                <a:solidFill>
                  <a:srgbClr val="238A84"/>
                </a:solidFill>
                <a:latin typeface="Aptos"/>
                <a:ea typeface="Aptos"/>
                <a:cs typeface="Aptos"/>
              </a:defRPr>
            </a:pPr>
            <a:r>
              <a:rPr sz="2250" b="1" i="0">
                <a:solidFill>
                  <a:srgbClr val="238A84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3508A4-2F3F-4799-857D-CD2B16EF6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09750"/>
            <a:ext cx="2571750" cy="32004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8D8D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4253B5-4E07-478E-842A-1DCA50669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09750"/>
            <a:ext cx="25717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8A8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BE1BE9-6FCE-461A-B57B-EC505C88C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764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238A84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238A84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A4FCAF-908C-472D-B2C2-DBA027E49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47925"/>
            <a:ext cx="215265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E8F4F1"/>
          </a:solidFill>
          <a:ln xmlns:a="http://schemas.openxmlformats.org/drawingml/2006/main" w="9525">
            <a:solidFill>
              <a:srgbClr val="B7D8D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6E0AB3-FFB5-43C1-9957-332860D1E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0032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“Jualan 300rb…”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B42714-2386-4382-8CCF-A336C9728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00400"/>
            <a:ext cx="2152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9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9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Ceritakan transaksi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C32E5E-EEBE-471D-91CC-05D411309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43350"/>
            <a:ext cx="21526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388" b="0" i="0">
                <a:solidFill>
                  <a:srgbClr val="46606E"/>
                </a:solidFill>
                <a:latin typeface="Aptos"/>
                <a:ea typeface="Aptos"/>
                <a:cs typeface="Aptos"/>
              </a:defRPr>
            </a:pPr>
            <a:r>
              <a:rPr sz="1388" b="0" i="0">
                <a:solidFill>
                  <a:srgbClr val="46606E"/>
                </a:solidFill>
                <a:latin typeface="Aptos"/>
                <a:ea typeface="Aptos"/>
                <a:cs typeface="Aptos"/>
              </a:rPr>
              <a:t>Pengguna cukup mengetik seperti sedang mengirim pesan.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799791-950E-49F0-ADBA-BEDA4F4E8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809750"/>
            <a:ext cx="2571750" cy="32004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8D8D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343666-25A7-4C1B-972E-3451C7CC3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809750"/>
            <a:ext cx="25717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3B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3E5FDF-FEF4-41AE-88C6-CCCBE22B1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0764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183B56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183B56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7C76B7-2C7C-448B-99CB-11FD0EC99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476500"/>
            <a:ext cx="6477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E8F4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24C307-95FA-47A5-B70F-5E293B70B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476500"/>
            <a:ext cx="647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 i="0">
                <a:solidFill>
                  <a:srgbClr val="238A84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238A84"/>
                </a:solidFill>
                <a:latin typeface="Aptos"/>
                <a:ea typeface="Aptos"/>
                <a:cs typeface="Aptos"/>
              </a:rPr>
              <a:t>Tanggal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DB2A2D-C071-410C-B539-43394D733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476500"/>
            <a:ext cx="6477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553642A-5F55-4F15-A6D0-5A9852D49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476500"/>
            <a:ext cx="647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 i="0">
                <a:solidFill>
                  <a:srgbClr val="FFFDF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DF8"/>
                </a:solidFill>
                <a:latin typeface="Aptos"/>
                <a:ea typeface="Aptos"/>
                <a:cs typeface="Aptos"/>
              </a:rPr>
              <a:t>Nominal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B86B30-28B3-4EB8-986B-E70E2131F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476500"/>
            <a:ext cx="6477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E8F4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7123ED7-F8BD-4488-A735-D8896029F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476500"/>
            <a:ext cx="647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 i="0">
                <a:solidFill>
                  <a:srgbClr val="238A84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238A84"/>
                </a:solidFill>
                <a:latin typeface="Aptos"/>
                <a:ea typeface="Aptos"/>
                <a:cs typeface="Aptos"/>
              </a:rPr>
              <a:t>Kategori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32D8EB-C1EE-4DF0-8142-F3C1D54C8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200400"/>
            <a:ext cx="2152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9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9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AI mengekstrak informasi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A0920B7-B67C-4479-9CC0-26DA81C0B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943350"/>
            <a:ext cx="21526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388" b="0" i="0">
                <a:solidFill>
                  <a:srgbClr val="46606E"/>
                </a:solidFill>
                <a:latin typeface="Aptos"/>
                <a:ea typeface="Aptos"/>
                <a:cs typeface="Aptos"/>
              </a:defRPr>
            </a:pPr>
            <a:r>
              <a:rPr sz="1388" b="0" i="0">
                <a:solidFill>
                  <a:srgbClr val="46606E"/>
                </a:solidFill>
                <a:latin typeface="Aptos"/>
                <a:ea typeface="Aptos"/>
                <a:cs typeface="Aptos"/>
              </a:rPr>
              <a:t>Tanggal, nominal, keterangan, arus kas, dan kategori terbaca otomatis.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F8ACE9A-AD2B-4BB8-A6A6-BBC6F26CE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809750"/>
            <a:ext cx="2571750" cy="32004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8D8D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10C93C2-ECCF-4461-B707-D477D9D20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809750"/>
            <a:ext cx="25717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9A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0B0CDD1-D803-4823-9A9F-46CF8DD71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0764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D99A4E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D99A4E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1FF131D-62B2-45C3-8917-98707AD3A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42887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6E7"/>
          </a:solidFill>
          <a:ln xmlns:a="http://schemas.openxmlformats.org/drawingml/2006/main" w="19050">
            <a:solidFill>
              <a:srgbClr val="D99A4E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E97E974-947C-4364-BCE8-982153E61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428875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025" b="1" i="0">
                <a:solidFill>
                  <a:srgbClr val="D99A4E"/>
                </a:solidFill>
                <a:latin typeface="Aptos"/>
                <a:ea typeface="Aptos"/>
                <a:cs typeface="Aptos"/>
              </a:defRPr>
            </a:pPr>
            <a:r>
              <a:rPr sz="2025" b="1" i="0">
                <a:solidFill>
                  <a:srgbClr val="D99A4E"/>
                </a:solidFill>
                <a:latin typeface="Aptos"/>
                <a:ea typeface="Aptos"/>
                <a:cs typeface="Aptos"/>
              </a:rPr>
              <a:t>?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C2D9FCD-CC53-45D2-A9D3-F5CB2EFF5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55270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46606E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46606E"/>
                </a:solidFill>
                <a:latin typeface="Aptos"/>
                <a:ea typeface="Aptos"/>
                <a:cs typeface="Aptos"/>
              </a:rPr>
              <a:t>Konfirmasi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BC1D172-25EA-4674-B746-6081817C2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200400"/>
            <a:ext cx="2152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9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9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Pengguna meninjau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00EAE0C-1D1E-49B2-BC10-073D5EA13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943350"/>
            <a:ext cx="21526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5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388" b="0" i="0">
                <a:solidFill>
                  <a:srgbClr val="46606E"/>
                </a:solidFill>
                <a:latin typeface="Aptos"/>
                <a:ea typeface="Aptos"/>
                <a:cs typeface="Aptos"/>
              </a:defRPr>
            </a:pPr>
            <a:r>
              <a:rPr sz="1388" b="0" i="0">
                <a:solidFill>
                  <a:srgbClr val="46606E"/>
                </a:solidFill>
                <a:latin typeface="Aptos"/>
                <a:ea typeface="Aptos"/>
                <a:cs typeface="Aptos"/>
              </a:rPr>
              <a:t>Transaksi ambigu ditandai agar pengguna dapat mengonfirmasi atau mengoreksi.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99641B4-73F3-4BED-9B04-D2739633A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809750"/>
            <a:ext cx="2571750" cy="32004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65B8B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864495F-6406-48B3-AA24-C34562779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809750"/>
            <a:ext cx="25717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8A8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2E17A71-223A-494C-A142-FA91C5C94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0764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238A84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238A84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FAD7105-7C00-4E8E-8F0C-3A5B76F34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428875"/>
            <a:ext cx="9906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8F4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6A31D9E-6EBA-440C-91C3-2BA1B503C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2428875"/>
            <a:ext cx="9906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EF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3329AFB-8463-4ACC-937E-4FD826111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505075"/>
            <a:ext cx="990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1" i="0">
                <a:solidFill>
                  <a:srgbClr val="238A84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238A84"/>
                </a:solidFill>
                <a:latin typeface="Aptos"/>
                <a:ea typeface="Aptos"/>
                <a:cs typeface="Aptos"/>
              </a:rPr>
              <a:t>USAHA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593A2CE-2F53-4638-B3E5-1D8DFCF43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686050"/>
            <a:ext cx="990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00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+250rb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783AA55-E26E-4678-926E-5067B7D42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2505075"/>
            <a:ext cx="990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1" i="0">
                <a:solidFill>
                  <a:srgbClr val="718895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718895"/>
                </a:solidFill>
                <a:latin typeface="Aptos"/>
                <a:ea typeface="Aptos"/>
                <a:cs typeface="Aptos"/>
              </a:rPr>
              <a:t>PRIBADI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2DF7230-2F83-4873-A24D-09B9B2B80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2686050"/>
            <a:ext cx="990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00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−15rb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A720B4E-2635-4512-BA0E-B1301408C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200400"/>
            <a:ext cx="2152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9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9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Kas menjadi jelas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5EDB02D-A5E6-4F48-8B9F-9B5986DB2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943350"/>
            <a:ext cx="21526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5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388" b="0" i="0">
                <a:solidFill>
                  <a:srgbClr val="46606E"/>
                </a:solidFill>
                <a:latin typeface="Aptos"/>
                <a:ea typeface="Aptos"/>
                <a:cs typeface="Aptos"/>
              </a:defRPr>
            </a:pPr>
            <a:r>
              <a:rPr sz="1388" b="0" i="0">
                <a:solidFill>
                  <a:srgbClr val="46606E"/>
                </a:solidFill>
                <a:latin typeface="Aptos"/>
                <a:ea typeface="Aptos"/>
                <a:cs typeface="Aptos"/>
              </a:rPr>
              <a:t>Sistem memisahkan Kas Usaha dan Kas Pribadi lalu menampilkan ringkasan sederhana.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BDE24C6-0906-4C16-9BC3-2284EDCA0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14950"/>
            <a:ext cx="11201400" cy="876300"/>
          </a:xfrm>
          <a:prstGeom xmlns:a="http://schemas.openxmlformats.org/drawingml/2006/main" prst="roundRect">
            <a:avLst>
              <a:gd name="adj" fmla="val 19565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9D3B74F-F78F-42AF-A6CE-A97B57C24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8A84"/>
          </a:solidFill>
          <a:ln xmlns:a="http://schemas.openxmlformats.org/drawingml/2006/main" w="0">
            <a:solidFill>
              <a:srgbClr val="238A84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19E6507-9002-4F66-9F29-E6F7A9292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1" i="0">
                <a:solidFill>
                  <a:srgbClr val="FFFDF8"/>
                </a:solidFill>
                <a:latin typeface="Aptos"/>
                <a:ea typeface="Aptos"/>
                <a:cs typeface="Aptos"/>
              </a:defRPr>
            </a:pPr>
            <a:r>
              <a:rPr sz="1725" b="1" i="0">
                <a:solidFill>
                  <a:srgbClr val="FFFDF8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7D9D232-61BD-4033-B05B-422DD4CCF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486400"/>
            <a:ext cx="9886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572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 i="0">
                <a:solidFill>
                  <a:srgbClr val="FFFDF8"/>
                </a:solidFill>
                <a:latin typeface="Aptos"/>
                <a:ea typeface="Aptos"/>
                <a:cs typeface="Aptos"/>
              </a:defRPr>
            </a:pPr>
            <a:r>
              <a:rPr sz="1725" b="1" i="0">
                <a:solidFill>
                  <a:srgbClr val="FFFDF8"/>
                </a:solidFill>
                <a:latin typeface="Aptos"/>
                <a:ea typeface="Aptos"/>
                <a:cs typeface="Aptos"/>
              </a:rPr>
              <a:t>AI membantu merapikan data, tetapi pengguna tetap memegang kendali atas catatan keuangannya.</a:t>
            </a:r>
          </a:p>
        </p:txBody>
      </p:sp>
    </p:spTree>
    <p:extLst>
      <p:ext uri="{BB962C8B-B14F-4D97-AF65-F5344CB8AC3E}">
        <p14:creationId xmlns:p14="http://schemas.microsoft.com/office/powerpoint/2010/main" val="107348977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1183ac86f24a58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05DEC5-63D6-435C-924D-7FCDC29EF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A8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9032DB-0A36-4E93-8E8E-E2D9FAEAF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 i="0">
                <a:solidFill>
                  <a:srgbClr val="718895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718895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EE8969D-535B-4FC7-B57F-1C1781DF1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354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4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34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Dari Kalimat Sehari-hari ke Catatan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34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34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yang Bisa Ditindaklanjuti.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760755-DD34-44A9-8305-21183F46B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62100"/>
            <a:ext cx="11163300" cy="45148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4288">
            <a:solidFill>
              <a:srgbClr val="BFD2D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2BABFF-7C4A-4838-81E4-EFF942583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62100"/>
            <a:ext cx="11163300" cy="400050"/>
          </a:xfrm>
          <a:prstGeom xmlns:a="http://schemas.openxmlformats.org/drawingml/2006/main" prst="roundRect">
            <a:avLst>
              <a:gd name="adj" fmla="val 47619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505D9C-0FA6-4134-BA36-294AA8CA7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95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B8B1"/>
          </a:solidFill>
          <a:ln xmlns:a="http://schemas.openxmlformats.org/drawingml/2006/main" w="0">
            <a:solidFill>
              <a:srgbClr val="65B8B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2E5B8A-8DF2-43A6-9E14-CBE60F5BE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95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C54EDF-8761-4BF8-A509-11C99D606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47825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FFFDF8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DF8"/>
                </a:solidFill>
                <a:latin typeface="Aptos"/>
                <a:ea typeface="Aptos"/>
                <a:cs typeface="Aptos"/>
              </a:rPr>
              <a:t>ClearFlow.AI · Prototype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630E0C-68BD-4DE0-B5EE-629F46889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114550"/>
            <a:ext cx="0" cy="3657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8D8D7"/>
            </a:solidFill>
            <a:prstDash val="solid"/>
          </a:ln>
        </p:spPr>
      </p:sp>
      <p:sp>
        <p:nvSpPr>
          <p:cNvPr id="11" name="eyebrow">
            <a:extLst xmlns:a="http://schemas.openxmlformats.org/drawingml/2006/main">
              <a:ext uri="{FF2B5EF4-FFF2-40B4-BE49-F238E27FC236}">
                <a16:creationId xmlns:a16="http://schemas.microsoft.com/office/drawing/2014/main" id="{36E2A18B-58B0-4BCD-BBCD-79BB52128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717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238A84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238A84"/>
                </a:solidFill>
                <a:latin typeface="Aptos"/>
                <a:ea typeface="Aptos"/>
                <a:cs typeface="Aptos"/>
              </a:rPr>
              <a:t>PANEL KIRI — INPUT PENGGUNA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BFA698-7D63-4403-9378-C674952EF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33650"/>
            <a:ext cx="3448050" cy="1790700"/>
          </a:xfrm>
          <a:prstGeom xmlns:a="http://schemas.openxmlformats.org/drawingml/2006/main" prst="roundRect">
            <a:avLst>
              <a:gd name="adj" fmla="val 9574"/>
            </a:avLst>
          </a:prstGeom>
          <a:solidFill xmlns:a="http://schemas.openxmlformats.org/drawingml/2006/main">
            <a:srgbClr val="E8F4F1"/>
          </a:solidFill>
          <a:ln xmlns:a="http://schemas.openxmlformats.org/drawingml/2006/main" w="9525">
            <a:solidFill>
              <a:srgbClr val="ADD4C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0B367F-A189-42F5-8602-23DFF7421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71775"/>
            <a:ext cx="30289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650" b="0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“Hari ini jualan 300rb, beli plastik kemasan 50rb pakai uang laci toko, lalu jajan 15rb pakai uang sendiri.”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35DB94-04E6-4E4E-B38F-319513C9A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14850"/>
            <a:ext cx="2152650" cy="876300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FBFAF6"/>
          </a:solidFill>
          <a:ln xmlns:a="http://schemas.openxmlformats.org/drawingml/2006/main" w="14288">
            <a:solidFill>
              <a:srgbClr val="65B8B1"/>
            </a:solidFill>
            <a:prstDash val="dash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CB45AC-459A-40BB-8053-59BD16E58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95825"/>
            <a:ext cx="1885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 i="0">
                <a:solidFill>
                  <a:srgbClr val="238A84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238A84"/>
                </a:solidFill>
                <a:latin typeface="Aptos"/>
                <a:ea typeface="Aptos"/>
                <a:cs typeface="Aptos"/>
              </a:rPr>
              <a:t>[Masukkan screenshot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275" b="1" i="0">
                <a:solidFill>
                  <a:srgbClr val="238A84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238A84"/>
                </a:solidFill>
                <a:latin typeface="Aptos"/>
                <a:ea typeface="Aptos"/>
                <a:cs typeface="Aptos"/>
              </a:rPr>
              <a:t>prototype]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59A76C-A3BD-473B-B21F-90E29BFB1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514850"/>
            <a:ext cx="1181100" cy="876300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FBFAF6"/>
          </a:solidFill>
          <a:ln xmlns:a="http://schemas.openxmlformats.org/drawingml/2006/main" w="14288">
            <a:solidFill>
              <a:srgbClr val="65B8B1"/>
            </a:solidFill>
            <a:prstDash val="dash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4920FF-BF8C-4FD5-A3DA-C9697E925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638675"/>
            <a:ext cx="95250" cy="952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77BEC6-4004-420F-A5EB-FB15C3D9A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638675"/>
            <a:ext cx="95250" cy="952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8F4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5816E8-43CA-4C98-9A6B-992907D22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638675"/>
            <a:ext cx="95250" cy="952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DEDDE5-DF34-4AC1-AB81-B96B1E2E5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772025"/>
            <a:ext cx="95250" cy="952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8F4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040C90-13D5-4F63-A61A-E70CF9318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772025"/>
            <a:ext cx="95250" cy="952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9B0F2DB-F75E-400E-BBEA-6CBFDA721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772025"/>
            <a:ext cx="95250" cy="952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8F4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B5F2B30-BCAD-4F6B-AAAA-5768CE11B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905375"/>
            <a:ext cx="95250" cy="952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805755-96AF-41FD-A82B-7E67874A0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905375"/>
            <a:ext cx="95250" cy="952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8F4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1EAD6A4-B8A5-437C-92F7-D37F7A920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905375"/>
            <a:ext cx="95250" cy="952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5938BE8-4486-4A2F-A04C-03859715A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029200"/>
            <a:ext cx="1104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44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1" i="0">
                <a:solidFill>
                  <a:srgbClr val="238A84"/>
                </a:solidFill>
                <a:latin typeface="Aptos"/>
                <a:ea typeface="Aptos"/>
                <a:cs typeface="Aptos"/>
              </a:defRPr>
            </a:pPr>
            <a:r>
              <a:rPr sz="938" b="1" i="0">
                <a:solidFill>
                  <a:srgbClr val="238A84"/>
                </a:solidFill>
                <a:latin typeface="Aptos"/>
                <a:ea typeface="Aptos"/>
                <a:cs typeface="Aptos"/>
              </a:rPr>
              <a:t>[Masukkan QR Code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 sz="938" b="1" i="0">
                <a:solidFill>
                  <a:srgbClr val="238A84"/>
                </a:solidFill>
                <a:latin typeface="Aptos"/>
                <a:ea typeface="Aptos"/>
                <a:cs typeface="Aptos"/>
              </a:defRPr>
            </a:pPr>
            <a:r>
              <a:rPr sz="938" b="1" i="0">
                <a:solidFill>
                  <a:srgbClr val="238A84"/>
                </a:solidFill>
                <a:latin typeface="Aptos"/>
                <a:ea typeface="Aptos"/>
                <a:cs typeface="Aptos"/>
              </a:rPr>
              <a:t>atau link demo]</a:t>
            </a:r>
          </a:p>
        </p:txBody>
      </p:sp>
      <p:sp>
        <p:nvSpPr>
          <p:cNvPr id="27" name="eyebrow">
            <a:extLst xmlns:a="http://schemas.openxmlformats.org/drawingml/2006/main">
              <a:ext uri="{FF2B5EF4-FFF2-40B4-BE49-F238E27FC236}">
                <a16:creationId xmlns:a16="http://schemas.microsoft.com/office/drawing/2014/main" id="{912CC81E-84E0-4634-8A60-FA62356E8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1717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238A84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238A84"/>
                </a:solidFill>
                <a:latin typeface="Aptos"/>
                <a:ea typeface="Aptos"/>
                <a:cs typeface="Aptos"/>
              </a:rPr>
              <a:t>PANEL KANAN — HASIL CLEARFLOW.AI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40821E0-36E1-4A7D-BE6E-5552FFADE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552700"/>
            <a:ext cx="876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6668">
            <a:solidFill>
              <a:srgbClr val="FFFDF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E0AC8D1-F0C1-4E01-B153-95B2C0D6A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571750"/>
            <a:ext cx="800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 i="0">
                <a:solidFill>
                  <a:srgbClr val="FFFDF8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FFFDF8"/>
                </a:solidFill>
                <a:latin typeface="Aptos"/>
                <a:ea typeface="Aptos"/>
                <a:cs typeface="Aptos"/>
              </a:rPr>
              <a:t>Tanggal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717F63B-FDF0-426C-9BEF-0B9E0E340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552700"/>
            <a:ext cx="1752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6668">
            <a:solidFill>
              <a:srgbClr val="FFFDF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8C401BF-D0C7-4E04-A716-16E7B48BC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571750"/>
            <a:ext cx="1676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 i="0">
                <a:solidFill>
                  <a:srgbClr val="FFFDF8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FFFDF8"/>
                </a:solidFill>
                <a:latin typeface="Aptos"/>
                <a:ea typeface="Aptos"/>
                <a:cs typeface="Aptos"/>
              </a:rPr>
              <a:t>Keterangan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575BF4D-0B50-4E11-B967-4829E4E33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552700"/>
            <a:ext cx="1066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6668">
            <a:solidFill>
              <a:srgbClr val="FFFDF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79F495A-23B1-43D6-8F0C-106B3764F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571750"/>
            <a:ext cx="990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 i="0">
                <a:solidFill>
                  <a:srgbClr val="FFFDF8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FFFDF8"/>
                </a:solidFill>
                <a:latin typeface="Aptos"/>
                <a:ea typeface="Aptos"/>
                <a:cs typeface="Aptos"/>
              </a:rPr>
              <a:t>Nominal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C4BB2B4-BFF6-4BC8-88DF-897618CF0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552700"/>
            <a:ext cx="1295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6668">
            <a:solidFill>
              <a:srgbClr val="FFFDF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D1DB40F-60D4-42C5-8620-D8A7CC47C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571750"/>
            <a:ext cx="1219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 i="0">
                <a:solidFill>
                  <a:srgbClr val="FFFDF8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FFFDF8"/>
                </a:solidFill>
                <a:latin typeface="Aptos"/>
                <a:ea typeface="Aptos"/>
                <a:cs typeface="Aptos"/>
              </a:rPr>
              <a:t>Sumber Dana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54D4B15-E8EA-4D09-BF9E-D7E8AAEF6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552700"/>
            <a:ext cx="123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6668">
            <a:solidFill>
              <a:srgbClr val="FFFDF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F02A3EA-8F93-401A-A3D2-4F966D650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571750"/>
            <a:ext cx="1162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 i="0">
                <a:solidFill>
                  <a:srgbClr val="FFFDF8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FFFDF8"/>
                </a:solidFill>
                <a:latin typeface="Aptos"/>
                <a:ea typeface="Aptos"/>
                <a:cs typeface="Aptos"/>
              </a:rPr>
              <a:t>Arus Kas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D3BC65F-A023-44D9-AA0B-2468C8767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952750"/>
            <a:ext cx="876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7620">
            <a:solidFill>
              <a:srgbClr val="C8D8D7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8676567-BE46-4163-8DBB-4F0EDC774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990850"/>
            <a:ext cx="781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0" i="0">
                <a:solidFill>
                  <a:srgbClr val="132F3F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132F3F"/>
                </a:solidFill>
                <a:latin typeface="Aptos"/>
                <a:ea typeface="Aptos"/>
                <a:cs typeface="Aptos"/>
              </a:rPr>
              <a:t>Hari ini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E577C55-F14A-4583-8BBF-18B7A9952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52750"/>
            <a:ext cx="17526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7620">
            <a:solidFill>
              <a:srgbClr val="C8D8D7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F8D6B6F-2D80-4821-9394-1F19F547A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2990850"/>
            <a:ext cx="1657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63" b="0" i="0">
                <a:solidFill>
                  <a:srgbClr val="132F3F"/>
                </a:solidFill>
                <a:latin typeface="Aptos"/>
                <a:ea typeface="Aptos"/>
                <a:cs typeface="Aptos"/>
              </a:defRPr>
            </a:pPr>
            <a:r>
              <a:rPr sz="1163" b="0" i="0">
                <a:solidFill>
                  <a:srgbClr val="132F3F"/>
                </a:solidFill>
                <a:latin typeface="Aptos"/>
                <a:ea typeface="Aptos"/>
                <a:cs typeface="Aptos"/>
              </a:rPr>
              <a:t>Penjualan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4B9268D-CBBE-4ED8-95B4-AB6185009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952750"/>
            <a:ext cx="10668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7620">
            <a:solidFill>
              <a:srgbClr val="C8D8D7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C086CA5-6E9F-4C12-B682-794AD95EB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2990850"/>
            <a:ext cx="971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 i="0">
                <a:solidFill>
                  <a:srgbClr val="132F3F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132F3F"/>
                </a:solidFill>
                <a:latin typeface="Aptos"/>
                <a:ea typeface="Aptos"/>
                <a:cs typeface="Aptos"/>
              </a:rPr>
              <a:t>Rp300.000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A80AF51-C0D0-4D95-96BD-9E7AB6330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952750"/>
            <a:ext cx="1295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7620">
            <a:solidFill>
              <a:srgbClr val="C8D8D7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B330101-8861-4E80-93C4-F2CAA0779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2990850"/>
            <a:ext cx="1200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 i="0">
                <a:solidFill>
                  <a:srgbClr val="132F3F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132F3F"/>
                </a:solidFill>
                <a:latin typeface="Aptos"/>
                <a:ea typeface="Aptos"/>
                <a:cs typeface="Aptos"/>
              </a:rPr>
              <a:t>Kas Usaha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80B9E5F-6A77-4B48-8BEC-336BA810F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952750"/>
            <a:ext cx="1238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7620">
            <a:solidFill>
              <a:srgbClr val="C8D8D7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0FD414D-8662-437B-AB0D-52E84B52B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2990850"/>
            <a:ext cx="114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0" i="0">
                <a:solidFill>
                  <a:srgbClr val="238A84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38A84"/>
                </a:solidFill>
                <a:latin typeface="Aptos"/>
                <a:ea typeface="Aptos"/>
                <a:cs typeface="Aptos"/>
              </a:rPr>
              <a:t>Pemasukan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C96ABBE-2081-47BB-8298-AF429A183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448050"/>
            <a:ext cx="876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5"/>
          </a:solidFill>
          <a:ln xmlns:a="http://schemas.openxmlformats.org/drawingml/2006/main" w="7620">
            <a:solidFill>
              <a:srgbClr val="C8D8D7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D3B9017-7B1C-4E92-98A4-D13C9E485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486150"/>
            <a:ext cx="781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0" i="0">
                <a:solidFill>
                  <a:srgbClr val="132F3F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132F3F"/>
                </a:solidFill>
                <a:latin typeface="Aptos"/>
                <a:ea typeface="Aptos"/>
                <a:cs typeface="Aptos"/>
              </a:rPr>
              <a:t>Hari ini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1EE520C-243D-4363-802E-259A58181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448050"/>
            <a:ext cx="17526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5"/>
          </a:solidFill>
          <a:ln xmlns:a="http://schemas.openxmlformats.org/drawingml/2006/main" w="7620">
            <a:solidFill>
              <a:srgbClr val="C8D8D7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954C9F1-105B-4F5E-8F4D-B4DC6F7F8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3486150"/>
            <a:ext cx="1657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63" b="0" i="0">
                <a:solidFill>
                  <a:srgbClr val="132F3F"/>
                </a:solidFill>
                <a:latin typeface="Aptos"/>
                <a:ea typeface="Aptos"/>
                <a:cs typeface="Aptos"/>
              </a:defRPr>
            </a:pPr>
            <a:r>
              <a:rPr sz="1163" b="0" i="0">
                <a:solidFill>
                  <a:srgbClr val="132F3F"/>
                </a:solidFill>
                <a:latin typeface="Aptos"/>
                <a:ea typeface="Aptos"/>
                <a:cs typeface="Aptos"/>
              </a:rPr>
              <a:t>Plastik kemasan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C98C28E-F5EB-482D-A800-0DB8790D5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448050"/>
            <a:ext cx="10668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5"/>
          </a:solidFill>
          <a:ln xmlns:a="http://schemas.openxmlformats.org/drawingml/2006/main" w="7620">
            <a:solidFill>
              <a:srgbClr val="C8D8D7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72BDE7C-8FC8-421E-8E8A-7E971C3B6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3486150"/>
            <a:ext cx="971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 i="0">
                <a:solidFill>
                  <a:srgbClr val="132F3F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132F3F"/>
                </a:solidFill>
                <a:latin typeface="Aptos"/>
                <a:ea typeface="Aptos"/>
                <a:cs typeface="Aptos"/>
              </a:rPr>
              <a:t>Rp50.000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5198FE1-7F56-48A4-8551-678EC5355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448050"/>
            <a:ext cx="1295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5"/>
          </a:solidFill>
          <a:ln xmlns:a="http://schemas.openxmlformats.org/drawingml/2006/main" w="7620">
            <a:solidFill>
              <a:srgbClr val="C8D8D7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61A1B37-C967-4956-AA4D-7A2B296DB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3486150"/>
            <a:ext cx="1200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 i="0">
                <a:solidFill>
                  <a:srgbClr val="132F3F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132F3F"/>
                </a:solidFill>
                <a:latin typeface="Aptos"/>
                <a:ea typeface="Aptos"/>
                <a:cs typeface="Aptos"/>
              </a:rPr>
              <a:t>Kas Usaha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2F31E36-094B-487F-91E6-6AA4BCBC0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448050"/>
            <a:ext cx="1238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5"/>
          </a:solidFill>
          <a:ln xmlns:a="http://schemas.openxmlformats.org/drawingml/2006/main" w="7620">
            <a:solidFill>
              <a:srgbClr val="C8D8D7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5633965-4DD2-4B59-9C72-17A58C536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3486150"/>
            <a:ext cx="114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0" i="0">
                <a:solidFill>
                  <a:srgbClr val="46606E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46606E"/>
                </a:solidFill>
                <a:latin typeface="Aptos"/>
                <a:ea typeface="Aptos"/>
                <a:cs typeface="Aptos"/>
              </a:rPr>
              <a:t>Pengeluaran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2124E57-D462-499C-BE62-FB4FF52C7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943350"/>
            <a:ext cx="876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7620">
            <a:solidFill>
              <a:srgbClr val="C8D8D7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336B5AD-26EA-42DB-A067-382CCB9DB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981450"/>
            <a:ext cx="781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0" i="0">
                <a:solidFill>
                  <a:srgbClr val="132F3F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132F3F"/>
                </a:solidFill>
                <a:latin typeface="Aptos"/>
                <a:ea typeface="Aptos"/>
                <a:cs typeface="Aptos"/>
              </a:rPr>
              <a:t>Hari ini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2908CAA-571A-4FDA-8569-FD6C62281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943350"/>
            <a:ext cx="17526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7620">
            <a:solidFill>
              <a:srgbClr val="C8D8D7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3D69559-784F-444C-9C3F-E50E4CBA0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3981450"/>
            <a:ext cx="1657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63" b="0" i="0">
                <a:solidFill>
                  <a:srgbClr val="132F3F"/>
                </a:solidFill>
                <a:latin typeface="Aptos"/>
                <a:ea typeface="Aptos"/>
                <a:cs typeface="Aptos"/>
              </a:defRPr>
            </a:pPr>
            <a:r>
              <a:rPr sz="1163" b="0" i="0">
                <a:solidFill>
                  <a:srgbClr val="132F3F"/>
                </a:solidFill>
                <a:latin typeface="Aptos"/>
                <a:ea typeface="Aptos"/>
                <a:cs typeface="Aptos"/>
              </a:rPr>
              <a:t>Jajan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BB52A7E-2F2C-4386-BB87-82F4022E0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943350"/>
            <a:ext cx="10668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7620">
            <a:solidFill>
              <a:srgbClr val="C8D8D7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FF31C50-07C5-406A-AC7A-C3D21905F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3981450"/>
            <a:ext cx="971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 i="0">
                <a:solidFill>
                  <a:srgbClr val="132F3F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132F3F"/>
                </a:solidFill>
                <a:latin typeface="Aptos"/>
                <a:ea typeface="Aptos"/>
                <a:cs typeface="Aptos"/>
              </a:rPr>
              <a:t>Rp15.000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BC02B5B-7279-4385-9304-70C971CA5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943350"/>
            <a:ext cx="1295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7620">
            <a:solidFill>
              <a:srgbClr val="C8D8D7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6FAC570-CF02-45E7-9FB6-90E386622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3981450"/>
            <a:ext cx="1200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 i="0">
                <a:solidFill>
                  <a:srgbClr val="132F3F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132F3F"/>
                </a:solidFill>
                <a:latin typeface="Aptos"/>
                <a:ea typeface="Aptos"/>
                <a:cs typeface="Aptos"/>
              </a:rPr>
              <a:t>Kas Pribadi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A9D7980-DA42-41A6-BC54-BDF5E82FE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943350"/>
            <a:ext cx="1238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7620">
            <a:solidFill>
              <a:srgbClr val="C8D8D7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51DE790F-CB57-4FDD-8AFA-EEE169646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3981450"/>
            <a:ext cx="114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0" i="0">
                <a:solidFill>
                  <a:srgbClr val="46606E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46606E"/>
                </a:solidFill>
                <a:latin typeface="Aptos"/>
                <a:ea typeface="Aptos"/>
                <a:cs typeface="Aptos"/>
              </a:rPr>
              <a:t>Pengeluaran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AB496522-97CE-455F-89EB-2F1FCD0E4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610100"/>
            <a:ext cx="6229350" cy="762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FFF8EC"/>
          </a:solidFill>
          <a:ln xmlns:a="http://schemas.openxmlformats.org/drawingml/2006/main" w="9525">
            <a:solidFill>
              <a:srgbClr val="E8C890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E5A00FB-96E1-4381-AADA-5FEDD9423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79107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2D8"/>
          </a:solidFill>
          <a:ln xmlns:a="http://schemas.openxmlformats.org/drawingml/2006/main" w="14288">
            <a:solidFill>
              <a:srgbClr val="D99A4E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187ADFDB-5EF9-45AB-83A8-F3B215A7F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79107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 i="0">
                <a:solidFill>
                  <a:srgbClr val="D99A4E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D99A4E"/>
                </a:solidFill>
                <a:latin typeface="Aptos"/>
                <a:ea typeface="Aptos"/>
                <a:cs typeface="Aptos"/>
              </a:rPr>
              <a:t>?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B2DA279B-026B-4C2E-A025-4E3D1634C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714875"/>
            <a:ext cx="5314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Transaksi ambigu tidak langsung disimpan; ClearFlow.AI meminta konfirmasi pengguna.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B3E283D6-DB57-4A6E-BCCF-5CC23D953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57850"/>
            <a:ext cx="1104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718895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718895"/>
                </a:solidFill>
                <a:latin typeface="Aptos"/>
                <a:ea typeface="Aptos"/>
                <a:cs typeface="Aptos"/>
              </a:rPr>
              <a:t>Input bebas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AD65C678-A5CA-4098-909A-DC587829A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753100"/>
            <a:ext cx="106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5B8B1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1AD7C16C-6C66-4021-B6FF-F95D9D804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5657850"/>
            <a:ext cx="1381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238A84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238A84"/>
                </a:solidFill>
                <a:latin typeface="Aptos"/>
                <a:ea typeface="Aptos"/>
                <a:cs typeface="Aptos"/>
              </a:rPr>
              <a:t>Struktur transaksi</a:t>
            </a:r>
          </a:p>
        </p:txBody>
      </p:sp>
    </p:spTree>
    <p:extLst>
      <p:ext uri="{BB962C8B-B14F-4D97-AF65-F5344CB8AC3E}">
        <p14:creationId xmlns:p14="http://schemas.microsoft.com/office/powerpoint/2010/main" val="134596395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cde1fe8ace4a9f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E265F9-BF60-444E-877C-4D1687D94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A8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0DA078-B7B6-4C8F-BD26-2CF3ECE39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 i="0">
                <a:solidFill>
                  <a:srgbClr val="718895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718895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A00C9F2-B812-4FD1-8E97-5484F8132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128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4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34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Bukan Sekadar Mencatat. ClearFlow.AI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34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34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Membantu UMKM Melihat Arah.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3FF0FF-A235-4A0E-AE06-99F3A2057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47850"/>
            <a:ext cx="3333750" cy="2762250"/>
          </a:xfrm>
          <a:prstGeom xmlns:a="http://schemas.openxmlformats.org/drawingml/2006/main" prst="roundRect">
            <a:avLst>
              <a:gd name="adj" fmla="val 7586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8D8D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10F3A5-9A58-4D93-9C1A-DAF052A95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4F1"/>
          </a:solidFill>
          <a:ln xmlns:a="http://schemas.openxmlformats.org/drawingml/2006/main" w="14288">
            <a:solidFill>
              <a:srgbClr val="238A8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6520E3-BBC2-420C-92C4-8CA221D83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 i="0">
                <a:solidFill>
                  <a:srgbClr val="238A84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238A84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C13609-E404-422D-ABC2-AF0074058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86050"/>
            <a:ext cx="857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38A8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EC40B8-E478-49B8-AC8B-8971B0751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14650"/>
            <a:ext cx="2819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17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17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Arus kas lebih transparan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73B14A-2E20-44FC-964F-CF93F4D7B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33800"/>
            <a:ext cx="2838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0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46606E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46606E"/>
                </a:solidFill>
                <a:latin typeface="Aptos"/>
                <a:ea typeface="Aptos"/>
                <a:cs typeface="Aptos"/>
              </a:rPr>
              <a:t>Pemilik dapat melihat pemasukan dan pengeluaran usaha dengan lebih cepat.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A519AC-EDB0-4232-9BF0-2658EDE1E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847850"/>
            <a:ext cx="3333750" cy="2762250"/>
          </a:xfrm>
          <a:prstGeom xmlns:a="http://schemas.openxmlformats.org/drawingml/2006/main" prst="roundRect">
            <a:avLst>
              <a:gd name="adj" fmla="val 7586"/>
            </a:avLst>
          </a:prstGeom>
          <a:solidFill xmlns:a="http://schemas.openxmlformats.org/drawingml/2006/main">
            <a:srgbClr val="F0F8F6"/>
          </a:solidFill>
          <a:ln xmlns:a="http://schemas.openxmlformats.org/drawingml/2006/main" w="19050">
            <a:solidFill>
              <a:srgbClr val="65B8B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168992-0C65-4C46-BC9F-0510CABB3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0955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4F1"/>
          </a:solidFill>
          <a:ln xmlns:a="http://schemas.openxmlformats.org/drawingml/2006/main" w="14288">
            <a:solidFill>
              <a:srgbClr val="238A8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12DD2D-A01D-40DC-96A1-BBA231E14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095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 i="0">
                <a:solidFill>
                  <a:srgbClr val="238A84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238A84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2E44E8-0ABF-4D22-AA73-A3BB1AB2A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686050"/>
            <a:ext cx="857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38A8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9D8C5E-48DE-4D0D-ADFA-56C2E5BF9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914650"/>
            <a:ext cx="2819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17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17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Modal usaha lebih terlindungi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274BDA-936C-488F-B211-2D2A59594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733800"/>
            <a:ext cx="2838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0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46606E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46606E"/>
                </a:solidFill>
                <a:latin typeface="Aptos"/>
                <a:ea typeface="Aptos"/>
                <a:cs typeface="Aptos"/>
              </a:rPr>
              <a:t>Pemisahan kas membantu mencegah dana usaha terpakai tanpa disadari.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0B6B9B-73DE-4232-A750-882D22D09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47850"/>
            <a:ext cx="3333750" cy="2762250"/>
          </a:xfrm>
          <a:prstGeom xmlns:a="http://schemas.openxmlformats.org/drawingml/2006/main" prst="roundRect">
            <a:avLst>
              <a:gd name="adj" fmla="val 7586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8D8D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A51BAD-A791-41F4-A654-7AFBA0266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955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4F1"/>
          </a:solidFill>
          <a:ln xmlns:a="http://schemas.openxmlformats.org/drawingml/2006/main" w="14288">
            <a:solidFill>
              <a:srgbClr val="238A8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AC632E-58A5-4B68-81C9-1D08ECCC8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95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 i="0">
                <a:solidFill>
                  <a:srgbClr val="238A84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238A84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49BE0E-C1BA-431B-B1B5-855B7C660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686050"/>
            <a:ext cx="857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38A8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C261A0-D7C2-4FAF-8F81-9CC8B936F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914650"/>
            <a:ext cx="2819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17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17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Pembukuan lebih mudah diadopsi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D55FA6-7302-42D7-B9D3-F647B3940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733800"/>
            <a:ext cx="2838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0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46606E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46606E"/>
                </a:solidFill>
                <a:latin typeface="Aptos"/>
                <a:ea typeface="Aptos"/>
                <a:cs typeface="Aptos"/>
              </a:rPr>
              <a:t>UMKM dapat mulai mencatat tanpa harus memahami rumus atau istilah akuntansi yang rumit.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DF9405-66CA-4A9A-B394-B8B1D4D0A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14900"/>
            <a:ext cx="10610850" cy="9144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8BD4607-47B5-4A50-BF43-BA515FCF4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1492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 i="0">
                <a:solidFill>
                  <a:srgbClr val="8FD0C9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8FD0C9"/>
                </a:solidFill>
                <a:latin typeface="Aptos"/>
                <a:ea typeface="Aptos"/>
                <a:cs typeface="Aptos"/>
              </a:rPr>
              <a:t>ClearFlow.AI —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1D16348-E33D-4238-811D-7A0D8D9A4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076825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531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 i="0">
                <a:solidFill>
                  <a:srgbClr val="FFFDF8"/>
                </a:solidFill>
                <a:latin typeface="Aptos"/>
                <a:ea typeface="Aptos"/>
                <a:cs typeface="Aptos"/>
              </a:defRPr>
            </a:pPr>
            <a:r>
              <a:rPr sz="1725" b="1" i="0">
                <a:solidFill>
                  <a:srgbClr val="FFFDF8"/>
                </a:solidFill>
                <a:latin typeface="Aptos"/>
                <a:ea typeface="Aptos"/>
                <a:cs typeface="Aptos"/>
              </a:rPr>
              <a:t>dari transaksi harian yang berantakan menuju keputusan usaha yang lebih jernih.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0AEE723-4689-4BEB-85A2-507A09FE4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531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 i="0">
                <a:solidFill>
                  <a:srgbClr val="238A84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238A84"/>
                </a:solidFill>
                <a:latin typeface="Aptos"/>
                <a:ea typeface="Aptos"/>
                <a:cs typeface="Aptos"/>
              </a:rPr>
              <a:t>Prototype siap diuji untuk UMKM Cirebon  |  Q&amp;A</a:t>
            </a:r>
          </a:p>
        </p:txBody>
      </p:sp>
    </p:spTree>
    <p:extLst>
      <p:ext uri="{BB962C8B-B14F-4D97-AF65-F5344CB8AC3E}">
        <p14:creationId xmlns:p14="http://schemas.microsoft.com/office/powerpoint/2010/main" val="13708752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2026-08-04T15:01:27.2490000Z</dcterms:created>
  <dcterms:modified xsi:type="dcterms:W3CDTF">2026-08-04T15:01:27.2490000Z</dcterms:modified>
</coreProperties>
</file>